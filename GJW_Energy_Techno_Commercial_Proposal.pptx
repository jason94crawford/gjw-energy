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shaded.jpg"/>
          <p:cNvPicPr>
            <a:picLocks noChangeAspect="1"/>
          </p:cNvPicPr>
          <p:nvPr/>
        </p:nvPicPr>
        <p:blipFill>
          <a:blip r:embed="rId2"/>
          <a:srcRect t="7781" b="778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350">
                <a:solidFill>
                  <a:srgbClr val="D97725"/>
                </a:solidFill>
                <a:latin typeface="JetBrains Mono"/>
              </a:rPr>
              <a:t>TECHNO-COMMERCIAL PROPOSAL · GJW-TCO-[YYYY]-[NNN]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spc="-10">
                <a:solidFill>
                  <a:srgbClr val="FFFFFF"/>
                </a:solidFill>
                <a:latin typeface="Cabinet Grotesk"/>
              </a:rPr>
              <a:t>[SOLAR PV + BESS PLANT]</a:t>
            </a:r>
          </a:p>
          <a:p>
            <a:pPr algn="l">
              <a:lnSpc>
                <a:spcPct val="105000"/>
              </a:lnSpc>
            </a:pPr>
            <a:r>
              <a:rPr sz="2000" b="0" spc="20">
                <a:solidFill>
                  <a:srgbClr val="C9C9C9"/>
                </a:solidFill>
                <a:latin typeface="Cabinet Grotesk"/>
              </a:rPr>
              <a:t>[CAPACITY] kWp / [kWh] — [SITE NAME], [COUNTRY]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1054303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[CLIENT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GJW ENERGY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[DD MONTH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[30]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50">
                <a:solidFill>
                  <a:srgbClr val="8C8C8C"/>
                </a:solidFill>
                <a:latin typeface="JetBrains Mono"/>
              </a:rPr>
              <a:t>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01 —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PRINCIPAL-LED. ENGINEER-FIRST.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GJW Energy is a Kenyan engineering and EPC company delivering solar PV, battery storage and grid-integration projects across East Africa. Technical governance on every project is anchored directly by the company's technical leadership — the people who design your system are the people accountable for delivering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Mandate across Kenya, Tanzania, Uganda, Somalia and Somaliland — EPC, construction, design and technical advisory for industrial, agricultural, hospitality, healthcare and mixed-use clients.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83664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MWp engineering &amp;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724912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2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62656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MWh storage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3803904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986784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041648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territories — regional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882896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5065776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12064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years combined team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74920"/>
            <a:ext cx="603504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WHAT THIS MEANS FOR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One accountable engineering lead from first site visit to final acceptance testing. No hand-offs, no brokering — design intent survives construction.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02 — GEOGRAPHICAL PRESENCE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ONE TEAM. FIVE TERRITORIES.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C8C8C"/>
                </a:solidFill>
                <a:latin typeface="Satoshi"/>
              </a:rPr>
              <a:t>Headquartered in Kenya, with project delivery and development experience across the region — one engineering standard, applied everywhere we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363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KENYA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19125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HOME MARKET · EPRA-LICENSED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76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581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UGANDA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8130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3367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7997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TANZANIA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5546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005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50566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OFF-GRID &amp; DIESEL DISPLACEMENT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7725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418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623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5678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WATER &amp; UTILITY SOLAR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09904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resenc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914400"/>
            <a:ext cx="4396859" cy="5394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03 — YOUR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THE BRIEF, AS WE UNDERSTAND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8424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[CLIENT NAME]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5117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[SITE / FACILITY], [TOWN], [COUNTRY]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175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455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1810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[Reduce grid energy costs / secure supply / displace diesel]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844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LOAD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68503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[Daytime baseload ±XXX kW · peak XXX kVA · XX,XXX kWh/month]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5137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SUPPLY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2519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[Utility grid — utility tariff / outage profile / genset backup]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1830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81888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[Roof or land availability · outage windows · interconnection limits]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852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Source: [site visit dated ___ / client data pack / utility bills for ___ months]. Any assumption stated here is confirmed during detailed design and does not alter the fixed price unless the physical scope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04 — THE OFFER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SYSTEM. EVERY PART SIZED.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04872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SOLAR PV</a:t>
            </a:r>
          </a:p>
        </p:txBody>
      </p:sp>
      <p:sp>
        <p:nvSpPr>
          <p:cNvPr id="9" name="Rectangle 8"/>
          <p:cNvSpPr/>
          <p:nvPr/>
        </p:nvSpPr>
        <p:spPr>
          <a:xfrm>
            <a:off x="2596896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battery-charg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2404872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61488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BATTERY STORAGE (BESS)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plug-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40487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35424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MVA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TRANSFORMER &amp; DISTRIBUTION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404872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0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TRANSMISSION 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8704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3296" y="2404872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83296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GRID STABILISATION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fu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240487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GENERATOR 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80060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50">
                <a:solidFill>
                  <a:srgbClr val="D97725"/>
                </a:solidFill>
                <a:latin typeface="JetBrains Mono"/>
              </a:rPr>
              <a:t>DELIVERY MODEL — </a:t>
            </a:r>
            <a:r>
              <a:rPr sz="1000" b="1" spc="200">
                <a:solidFill>
                  <a:srgbClr val="0A0A0C"/>
                </a:solidFill>
                <a:latin typeface="JetBrains Mono"/>
              </a:rPr>
              <a:t>EPC · FIXED LUMP-SUM · SINGLE ACCOUNTABLE ENGINEERING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Blank figures are completed per offer after site assessment — elements not required for your site are marked N/A rather than priced in. Full engineering detail follows in the technical offer.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05 — TECHNICAL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PROPOSED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SYSTEM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93852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[XXX] kWp DC / [XXX] kW AC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134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414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PV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1401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Wp Tier-1 mono / n-type · make per final BOQ]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169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INVERTERS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950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kW string inverters · make per final BOQ]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6440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92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STORAGE (OPTION)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 kWh LFP BESS · hybrid inverter / PCS]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3989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6791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GRID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4048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[Grid-tied / grid-stabilising · protection &amp; synchronisation per utility]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1538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MOUNTING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31596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[Roof / ground-mounted · hot-dip galvanised structure]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908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9145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[String-level monitoring · remote portal · generation meter]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1663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9437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EST.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26694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[X,XXX MWh in year one · PR ≥ XX%]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6418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Engineering basis: PVsyst simulation, utility interconnection study and structural verification precede construction. All equipment is Tier-1 with manufacturer warranties registered to the client.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06 —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CONTRACT. FULL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7568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ENGINEERING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07568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Site survey &amp; yield assessment · PVsyst design · single-line diagrams · structural checks · utility 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443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94436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Tier-1 equipment sourcing · factory inspections · logistics &amp; customs · materials received &amp; stored to 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593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81304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Civil &amp; structural works · mechanical &amp; electrical installation · grid interconnection · HSE-managed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622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817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COMMISSIONING &amp;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68172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Testing &amp; commissioning · acceptance tests with client · as-built dossier · operator training · O&amp;M handover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07 — SCOPE, IN THE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PRICED IN. NOT SPRUNG ON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 OUR PRICE — ITEMS OTHERS HIDE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408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walkways &amp; access paths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0720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Guard rails &amp; edge 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14553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735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Roof access — ladders, hatches &amp;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398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Safety lines &amp; anchor points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78224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062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Generator integration &amp; synchronisation controls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544568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7258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Cable tray, trenching &amp; cable management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01091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1297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138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Earthing &amp; lightning protection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47725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60527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As-built documentation, training &amp; handover pack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94360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CLIENT / UTILITY SIDE — FLAGGED UPFRONT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34086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Utility application &amp; connection fees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679192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80720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Grid network reinforcement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145536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27355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VAT / import duties — unless expressly stated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611880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373989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Structural roof upgrades beyond the agreed scope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078224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206240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Land works beyond the agreed 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544568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56235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852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If it is required to deliver the system properly and safely, it is in our price. Anything outside scope is flagged before signature — never after.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08 — DELIVERY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BUILT AT UTILITY SCALE AND SPEED.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949440"/>
                <a:gridCol w="25877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PHASE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TIMELINE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Contract &amp; mobilisation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1–2]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Detailed design &amp; utility approvals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2–5]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Procurement &amp; logistics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4–10]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Construction &amp; installation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8–16]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16–18]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Programme assumes timely utility approvals and site access. A week-by-week schedule is issued at contract signature and tracked to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09 — PROOF, NOT 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DELIVERED BY THIS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TATA CHEMICALS · MAGADI, KENYA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5.1 MWp on-grid solar · grid stabilisation · D&amp;T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8833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6207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DEVKI GROUP PORTFOLIO · KENYA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3.8 MWp rooftop across 4 manufacturing sites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4728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210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TATU CITY SEZ · KENYA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2.05 MW rooftop · 3,468 modules · mixed-use 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997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SAJ CERAMICS · KENYA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72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693 kWp rooftop + genset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KINONDO KWETU · DIANI, KENYA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Off-grid solar PV + BESS · diesel displaced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72414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ta-aerial-top.jpg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7452360" y="2103120"/>
            <a:ext cx="3913632" cy="293522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52360" y="2103120"/>
            <a:ext cx="391363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614476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50">
                <a:solidFill>
                  <a:srgbClr val="8C8C8C"/>
                </a:solidFill>
                <a:latin typeface="JetBrains Mono"/>
              </a:rPr>
              <a:t>TATA CHEMICALS MAGADI — 5.1 MWP · COMMISSIONED [2025]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10 — FOR EPCs &amp; IPPs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YOUR INSTALLATION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spc="-10">
                <a:solidFill>
                  <a:srgbClr val="D97725"/>
                </a:solidFill>
                <a:latin typeface="Cabinet Grotesk"/>
              </a:rPr>
              <a:t>ON THE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1C9"/>
                </a:solidFill>
                <a:latin typeface="Satoshi"/>
              </a:rPr>
              <a:t>International and regional EPCs and IPPs engage GJW Energy as their construction arm in East Africa. We install to your design, under your governance — with QA/QC documentation your lenders can audit, and white-label delivery under your brand.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M&amp;E INSTALLATION CREWS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LICENSED, HSE-MANAGED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29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MV/LV BALANCE OF PLANT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CABLING, SWITCHGEAR, TRANSFORMERS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4223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QA/QC · ITPs · HSE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7083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TO YOUR STANDARD, AUDIT-READY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414223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TESTING &amp; COMMISSIONING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37083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PUNCH-LIST &amp; HANDOVER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554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WHITE-LABEL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840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UNDER YOUR BRAND, NDA-FRIENDLY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8554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180">
                <a:solidFill>
                  <a:srgbClr val="D97725"/>
                </a:solidFill>
                <a:latin typeface="JetBrains Mono"/>
              </a:rPr>
              <a:t>EPRA-LICENSED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840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A9B4A9"/>
                </a:solidFill>
                <a:latin typeface="JetBrains Mono"/>
              </a:rPr>
              <a:t>LOCAL STATUTORY COVERAGE</a:t>
            </a:r>
          </a:p>
        </p:txBody>
      </p:sp>
      <p:pic>
        <p:nvPicPr>
          <p:cNvPr id="19" name="Picture 18" descr="field-rooftop-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416552" cy="331241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949440" y="2011680"/>
            <a:ext cx="441655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5461254"/>
            <a:ext cx="4416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120">
                <a:solidFill>
                  <a:srgbClr val="A9B4A9"/>
                </a:solidFill>
                <a:latin typeface="JetBrains Mono"/>
              </a:rPr>
              <a:t>WALKWAYS, SAFETY LINES &amp; CABLE MANAGEMENT — INSTALLED, NOT IMPROVISED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20">
                <a:solidFill>
                  <a:srgbClr val="D97725"/>
                </a:solidFill>
                <a:latin typeface="JetBrains Mono"/>
              </a:rPr>
              <a:t>DELIVERY MODEL — </a:t>
            </a:r>
            <a:r>
              <a:rPr sz="950" b="1" spc="180">
                <a:solidFill>
                  <a:srgbClr val="FFFFFF"/>
                </a:solidFill>
                <a:latin typeface="JetBrains Mono"/>
              </a:rPr>
              <a:t>YOUR CONTRACT · YOUR GOVERNANCE · OUR CREWS ON YOUR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11 — THE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THE LOWEST CAPEX ISN'T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spc="-10">
                <a:solidFill>
                  <a:srgbClr val="D97725"/>
                </a:solidFill>
                <a:latin typeface="Cabinet Grotesk"/>
              </a:rPr>
              <a:t>ALWAYS THE LOWEST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8C8C"/>
                </a:solidFill>
                <a:latin typeface="Satoshi"/>
              </a:rPr>
              <a:t>Cheap solar fails quietly at first — then all at once. What a cut-price installation leaves off the BOQ returns as fire risk, corrosion, water damage and an unsafe roof. The repair bill arrives with interest.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PANEL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770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POOR DC CONNECTIONS IGNITE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6576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CORRODED WALKWAYS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8770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MILD STEEL, NOT ALUMINIUM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159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WATER INGRESS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35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FAILED ROOF PENETRATIONS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43159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NO GUARDRAILS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535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NO SAFETY LINES — A FALL WAITING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743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THERMAL RUNAWAY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937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UNDER-SPEC BESS VENTS &amp; BURNS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9743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D97725"/>
                </a:solidFill>
                <a:latin typeface="JetBrains Mono"/>
              </a:rPr>
              <a:t>0 kW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1937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8C8C8C"/>
                </a:solidFill>
                <a:latin typeface="JetBrains Mono"/>
              </a:rPr>
              <a:t>PRODUCTION METER READS ZERO</a:t>
            </a:r>
          </a:p>
        </p:txBody>
      </p:sp>
      <p:pic>
        <p:nvPicPr>
          <p:cNvPr id="19" name="Picture 18" descr="cheap-solar-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416552" cy="240902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949440" y="2011680"/>
            <a:ext cx="441655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4557868"/>
            <a:ext cx="4416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120">
                <a:solidFill>
                  <a:srgbClr val="8C8C8C"/>
                </a:solidFill>
                <a:latin typeface="JetBrains Mono"/>
              </a:rPr>
              <a:t>WHAT CHEAP SOLAR BECOMES — ZERO OUTPUT, FAILED PLANT, UNSAFE 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12 — COMMERCIAL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PRICED ONCE. PRICED PROPERLY.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24028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34072"/>
                <a:gridCol w="2377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SCOPE 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AMOUNT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Engineering, design &amp; approvals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Equipment supply — PV, inverters[, BESS], BOS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Civil, structural &amp; electrical installation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Grid interconnection &amp; protection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6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[Optional: year-one O&amp;M &amp; performance monitoring]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SUBTOTAL — SUPPLY &amp; INSTALL (EXCL. VAT)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FFFFFF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TOTAL CONTRACT PRICE (INCL. TAXES AS STATED)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Fixed, lump-sum turnkey price. No variation unless physical scope changes. Currency: [USD/KES] · price basis: [DDP site / ex-works + install].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13 — 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CLEAR TERMS.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CONTRACT SIGNATURE &amp; MOBILISATION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7872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MAJOR EQUIPMENT DELIVERED TO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MECHANICAL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97696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COMMISSIONING &amp; ACCEPTANCE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4903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721607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This offer remains open for [30] days from the date of issue.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96511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245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WARRANTIES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197095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Modules [12/25] yrs product &amp; performance · inverters [5–10] yrs · workmanship [2] yrs.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571999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0001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672583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Year-one yield per PVsyst P50 estimate · measured at the generation meter.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47487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7550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EXCLUSIONS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48071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Utility connection fees · grid reinforcement · unforeseen civils · VAT unless stated.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522975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5099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GOVERNING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623559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[FIDIC-based / client contract] · Kenyan law · amicable resolution then arbitration.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998463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14 — OPTIONAL · ANNUAL O&amp;M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spc="-10">
                <a:solidFill>
                  <a:srgbClr val="0A0A0C"/>
                </a:solidFill>
                <a:latin typeface="Cabinet Grotesk"/>
              </a:rPr>
              <a:t>BUILT PROPERLY. KEPT PERFORMING.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INCLUDED IN THE ANNUAL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865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Scheduled preventive maintenance — [2] visits /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5234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9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986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— [N] cycles /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64408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41071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24/7 remote monitoring &amp; monthly performance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76472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1363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22776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Breakdown response within [48]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288536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256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348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Spare-parts management &amp; warranty administration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00600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9469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Annual performance review against the P50 yield estimate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31266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2011680"/>
            <a:ext cx="4416552" cy="3429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22860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300">
                <a:solidFill>
                  <a:srgbClr val="D97725"/>
                </a:solidFill>
                <a:latin typeface="JetBrains Mono"/>
              </a:rPr>
              <a:t>ANNUAL O&amp;M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65176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FFFFFF"/>
                </a:solidFill>
                <a:latin typeface="Cabinet Grotesk"/>
              </a:rPr>
              <a:t>[USD —] </a:t>
            </a:r>
            <a:r>
              <a:rPr sz="1100" b="1" spc="150">
                <a:solidFill>
                  <a:srgbClr val="8C8C8C"/>
                </a:solidFill>
                <a:latin typeface="JetBrains Mono"/>
              </a:rPr>
              <a:t>/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918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8C8C8C"/>
                </a:solidFill>
                <a:latin typeface="JetBrains Mono"/>
              </a:rPr>
              <a:t>OR [USD —] PER kWp PER YEAR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3749039"/>
            <a:ext cx="377647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931920"/>
            <a:ext cx="3840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ADD-ONS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Extended warranty wrap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Additional cleaning cycles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Security &amp; guarding — [OPT]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O&amp;M clients hold priority breakdown response. Systems we maintain carry our name — we keep them performing.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-shaded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Your sector. Your site.</a:t>
            </a:r>
          </a:p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D97725"/>
                </a:solidFill>
                <a:latin typeface="Cabinet Grotesk"/>
              </a:rPr>
              <a:t>Built properly,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6634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Site visit &amp; data confirmation — [week of ___]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50749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Final BOQ &amp; contract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4864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Mobilisation within [2] weeks of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66344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FFFFFF"/>
                </a:solidFill>
                <a:latin typeface="JetBrains Mono"/>
              </a:rPr>
              <a:t>INFO@GJWENERGY.CO.KE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FFFFFF"/>
                </a:solidFill>
                <a:latin typeface="JetBrains Mono"/>
              </a:rPr>
              <a:t>+254 722 660 630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8C8C8C"/>
                </a:solidFill>
                <a:latin typeface="JetBrains Mono"/>
              </a:rPr>
              <a:t>NAIROBI, KENYA</a:t>
            </a:r>
          </a:p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D97725"/>
                </a:solidFill>
                <a:latin typeface="JetBrains Mono"/>
              </a:rPr>
              <a:t>GJWENERGY.CO.KE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