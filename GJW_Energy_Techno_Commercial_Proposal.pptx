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-shaded.jpg"/>
          <p:cNvPicPr>
            <a:picLocks noChangeAspect="1"/>
          </p:cNvPicPr>
          <p:nvPr/>
        </p:nvPicPr>
        <p:blipFill>
          <a:blip r:embed="rId2"/>
          <a:srcRect t="7781" b="778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822960" y="822960"/>
            <a:ext cx="502920" cy="27940"/>
          </a:xfrm>
          <a:prstGeom prst="rect">
            <a:avLst/>
          </a:prstGeom>
          <a:solidFill>
            <a:srgbClr val="D977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spc="60">
                <a:solidFill>
                  <a:srgbClr val="FFFFFF"/>
                </a:solidFill>
                <a:latin typeface="Cabinet Grotesk"/>
              </a:rPr>
              <a:t>GJW </a:t>
            </a:r>
            <a:r>
              <a:rPr sz="1600" b="0" spc="60">
                <a:solidFill>
                  <a:srgbClr val="8C8C8C"/>
                </a:solidFill>
                <a:latin typeface="Cabinet Grotesk"/>
              </a:rPr>
              <a:t>ENERGY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5176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spc="350">
                <a:solidFill>
                  <a:srgbClr val="D97725"/>
                </a:solidFill>
                <a:latin typeface="JetBrains Mono"/>
              </a:rPr>
              <a:t>TECHNO-COMMERCIAL PROPOSAL · GJW-TCO-[YYYY]-[NNN]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017520"/>
            <a:ext cx="105156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 spc="-10">
                <a:solidFill>
                  <a:srgbClr val="FFFFFF"/>
                </a:solidFill>
                <a:latin typeface="Cabinet Grotesk"/>
              </a:rPr>
              <a:t>[SOLAR PV + BESS PLANT]</a:t>
            </a:r>
          </a:p>
          <a:p>
            <a:pPr algn="l">
              <a:lnSpc>
                <a:spcPct val="105000"/>
              </a:lnSpc>
            </a:pPr>
            <a:r>
              <a:rPr sz="2000" b="0" spc="20">
                <a:solidFill>
                  <a:srgbClr val="C9C9C9"/>
                </a:solidFill>
                <a:latin typeface="Cabinet Grotesk"/>
              </a:rPr>
              <a:t>[CAPACITY] kWp / [kWh] — [SITE NAME], [COUNTRY]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5394960"/>
            <a:ext cx="10543032" cy="9525"/>
          </a:xfrm>
          <a:prstGeom prst="rect">
            <a:avLst/>
          </a:prstGeom>
          <a:solidFill>
            <a:srgbClr val="5A5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5623560"/>
            <a:ext cx="24688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250">
                <a:solidFill>
                  <a:srgbClr val="D97725"/>
                </a:solidFill>
                <a:latin typeface="JetBrains Mono"/>
              </a:rPr>
              <a:t>PREPARED FOR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870448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FFFFFF"/>
                </a:solidFill>
                <a:latin typeface="Satoshi"/>
              </a:rPr>
              <a:t>[CLIENT NAME]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93008" y="5623560"/>
            <a:ext cx="24688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250">
                <a:solidFill>
                  <a:srgbClr val="D97725"/>
                </a:solidFill>
                <a:latin typeface="JetBrains Mono"/>
              </a:rPr>
              <a:t>PREPARED BY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93008" y="5870448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FFFFFF"/>
                </a:solidFill>
                <a:latin typeface="Satoshi"/>
              </a:rPr>
              <a:t>GJW ENERGY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63056" y="5623560"/>
            <a:ext cx="24688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250">
                <a:solidFill>
                  <a:srgbClr val="D97725"/>
                </a:solidFill>
                <a:latin typeface="JetBrains Mono"/>
              </a:rPr>
              <a:t>DATE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63056" y="5870448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FFFFFF"/>
                </a:solidFill>
                <a:latin typeface="Satoshi"/>
              </a:rPr>
              <a:t>[DD MONTH YYYY]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33104" y="5623560"/>
            <a:ext cx="24688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250">
                <a:solidFill>
                  <a:srgbClr val="D97725"/>
                </a:solidFill>
                <a:latin typeface="JetBrains Mono"/>
              </a:rPr>
              <a:t>VALIDITY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33104" y="5870448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FFFFFF"/>
                </a:solidFill>
                <a:latin typeface="Satoshi"/>
              </a:rPr>
              <a:t>[30] DAYS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6419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250">
                <a:solidFill>
                  <a:srgbClr val="8C8C8C"/>
                </a:solidFill>
                <a:latin typeface="JetBrains Mono"/>
              </a:rPr>
              <a:t>PRIVATE &amp;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350">
                <a:solidFill>
                  <a:srgbClr val="D97725"/>
                </a:solidFill>
                <a:latin typeface="JetBrains Mono"/>
              </a:rPr>
              <a:t>01 — WHO WE 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54577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400" b="1" spc="-10">
                <a:solidFill>
                  <a:srgbClr val="0A0A0C"/>
                </a:solidFill>
                <a:latin typeface="Cabinet Grotesk"/>
              </a:rPr>
              <a:t>PRINCIPAL-LED. ENGINEER-FIRST.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65960"/>
            <a:ext cx="6035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737371"/>
                </a:solidFill>
                <a:latin typeface="Satoshi"/>
              </a:rPr>
              <a:t>GJW Energy is a Kenyan engineering and EPC company delivering solar PV, battery storage and grid-integration projects across East Africa. Technical governance on every project is anchored directly by the company's technical leadership — the people who design your system are the people accountable for delivering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063240"/>
            <a:ext cx="6035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737371"/>
                </a:solidFill>
                <a:latin typeface="Satoshi"/>
              </a:rPr>
              <a:t>Mandate across Kenya, Tanzania, Uganda, Somalia and Somaliland — EPC, construction, design and technical advisory for industrial, agricultural, hospitality, healthcare and mixed-use clients.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0" y="1828800"/>
            <a:ext cx="1463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spc="-10">
                <a:solidFill>
                  <a:srgbClr val="D97725"/>
                </a:solidFill>
                <a:latin typeface="Cabinet Grotesk"/>
              </a:rPr>
              <a:t>20+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0" y="1883664"/>
            <a:ext cx="28346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spc="80">
                <a:solidFill>
                  <a:srgbClr val="737371"/>
                </a:solidFill>
                <a:latin typeface="JetBrains Mono"/>
              </a:rPr>
              <a:t>MWp engineering &amp;</a:t>
            </a:r>
          </a:p>
          <a:p>
            <a:pPr algn="l">
              <a:lnSpc>
                <a:spcPct val="120000"/>
              </a:lnSpc>
            </a:pPr>
            <a:r>
              <a:rPr sz="950" b="0" spc="80">
                <a:solidFill>
                  <a:srgbClr val="737371"/>
                </a:solidFill>
                <a:latin typeface="JetBrains Mono"/>
              </a:rPr>
              <a:t>delivery experience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6640" y="2724912"/>
            <a:ext cx="3977639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06640" y="2907792"/>
            <a:ext cx="1463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spc="-10">
                <a:solidFill>
                  <a:srgbClr val="D97725"/>
                </a:solidFill>
                <a:latin typeface="Cabinet Grotesk"/>
              </a:rPr>
              <a:t>10+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962656"/>
            <a:ext cx="28346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spc="80">
                <a:solidFill>
                  <a:srgbClr val="737371"/>
                </a:solidFill>
                <a:latin typeface="JetBrains Mono"/>
              </a:rPr>
              <a:t>MWh storage</a:t>
            </a:r>
          </a:p>
          <a:p>
            <a:pPr algn="l">
              <a:lnSpc>
                <a:spcPct val="120000"/>
              </a:lnSpc>
            </a:pPr>
            <a:r>
              <a:rPr sz="950" b="0" spc="80">
                <a:solidFill>
                  <a:srgbClr val="737371"/>
                </a:solidFill>
                <a:latin typeface="JetBrains Mono"/>
              </a:rPr>
              <a:t>experience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06640" y="3803904"/>
            <a:ext cx="3977639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06640" y="3986784"/>
            <a:ext cx="1463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spc="-10">
                <a:solidFill>
                  <a:srgbClr val="D97725"/>
                </a:solidFill>
                <a:latin typeface="Cabinet Grotesk"/>
              </a:rPr>
              <a:t>05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4041648"/>
            <a:ext cx="28346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spc="80">
                <a:solidFill>
                  <a:srgbClr val="737371"/>
                </a:solidFill>
                <a:latin typeface="JetBrains Mono"/>
              </a:rPr>
              <a:t>territories — regional</a:t>
            </a:r>
          </a:p>
          <a:p>
            <a:pPr algn="l">
              <a:lnSpc>
                <a:spcPct val="120000"/>
              </a:lnSpc>
            </a:pPr>
            <a:r>
              <a:rPr sz="950" b="0" spc="80">
                <a:solidFill>
                  <a:srgbClr val="737371"/>
                </a:solidFill>
                <a:latin typeface="JetBrains Mono"/>
              </a:rPr>
              <a:t>delivery experience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06640" y="4882896"/>
            <a:ext cx="3977639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0" y="5065776"/>
            <a:ext cx="1463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spc="-10">
                <a:solidFill>
                  <a:srgbClr val="D97725"/>
                </a:solidFill>
                <a:latin typeface="Cabinet Grotesk"/>
              </a:rPr>
              <a:t>20+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0" y="5120640"/>
            <a:ext cx="28346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spc="80">
                <a:solidFill>
                  <a:srgbClr val="737371"/>
                </a:solidFill>
                <a:latin typeface="JetBrains Mono"/>
              </a:rPr>
              <a:t>years combined team</a:t>
            </a:r>
          </a:p>
          <a:p>
            <a:pPr algn="l">
              <a:lnSpc>
                <a:spcPct val="120000"/>
              </a:lnSpc>
            </a:pPr>
            <a:r>
              <a:rPr sz="950" b="0" spc="80">
                <a:solidFill>
                  <a:srgbClr val="737371"/>
                </a:solidFill>
                <a:latin typeface="JetBrains Mono"/>
              </a:rPr>
              <a:t>experience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5074920"/>
            <a:ext cx="6035040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5257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250">
                <a:solidFill>
                  <a:srgbClr val="D97725"/>
                </a:solidFill>
                <a:latin typeface="JetBrains Mono"/>
              </a:rPr>
              <a:t>WHAT THIS MEANS FOR YOU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532120"/>
            <a:ext cx="6035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0A0A0C"/>
                </a:solidFill>
                <a:latin typeface="Satoshi"/>
              </a:rPr>
              <a:t>One accountable engineering lead from first site visit to final acceptance testing. No hand-offs, no brokering — design intent survives construction.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200">
                <a:solidFill>
                  <a:srgbClr val="A6A6A3"/>
                </a:solidFill>
                <a:latin typeface="JetBrains Mono"/>
              </a:rPr>
              <a:t>GJW ENERGY — TECHNO-COMMERCIAL PROPOSAL · GJW-TCO-[YYYY]-[NNN]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09960" y="6419088"/>
            <a:ext cx="320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spc="150">
                <a:solidFill>
                  <a:srgbClr val="D97725"/>
                </a:solidFill>
                <a:latin typeface="JetBrains Mono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350">
                <a:solidFill>
                  <a:srgbClr val="D97725"/>
                </a:solidFill>
                <a:latin typeface="JetBrains Mono"/>
              </a:rPr>
              <a:t>02 — GEOGRAPHICAL PRESENCE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60350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10">
                <a:solidFill>
                  <a:srgbClr val="FFFFFF"/>
                </a:solidFill>
                <a:latin typeface="Cabinet Grotesk"/>
              </a:rPr>
              <a:t>ONE TEAM. FIVE TERRITORIES.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48840"/>
            <a:ext cx="5852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8C8C8C"/>
                </a:solidFill>
                <a:latin typeface="Satoshi"/>
              </a:rPr>
              <a:t>Headquartered in Kenya, with project delivery and development experience across the region — one engineering standard, applied everywhere we work.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15468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50">
                <a:solidFill>
                  <a:srgbClr val="D97725"/>
                </a:solidFill>
                <a:latin typeface="JetBrains Mono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3136392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40">
                <a:solidFill>
                  <a:srgbClr val="FFFFFF"/>
                </a:solidFill>
                <a:latin typeface="Cabinet Grotesk"/>
              </a:rPr>
              <a:t>KENYA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86200" y="3191256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spc="150">
                <a:solidFill>
                  <a:srgbClr val="8C8C8C"/>
                </a:solidFill>
                <a:latin typeface="JetBrains Mono"/>
              </a:rPr>
              <a:t>HOME MARKET · EPRA-LICENSED DELIVERY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611880"/>
            <a:ext cx="6035040" cy="9525"/>
          </a:xfrm>
          <a:prstGeom prst="rect">
            <a:avLst/>
          </a:prstGeom>
          <a:solidFill>
            <a:srgbClr val="5A5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776472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50">
                <a:solidFill>
                  <a:srgbClr val="D97725"/>
                </a:solidFill>
                <a:latin typeface="JetBrains Mono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3758184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40">
                <a:solidFill>
                  <a:srgbClr val="FFFFFF"/>
                </a:solidFill>
                <a:latin typeface="Cabinet Grotesk"/>
              </a:rPr>
              <a:t>UGANDA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86200" y="3813048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spc="150">
                <a:solidFill>
                  <a:srgbClr val="8C8C8C"/>
                </a:solidFill>
                <a:latin typeface="JetBrains Mono"/>
              </a:rPr>
              <a:t>C&amp;I SOLAR &amp; STORAGE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4233672"/>
            <a:ext cx="6035040" cy="9525"/>
          </a:xfrm>
          <a:prstGeom prst="rect">
            <a:avLst/>
          </a:prstGeom>
          <a:solidFill>
            <a:srgbClr val="5A5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398264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50">
                <a:solidFill>
                  <a:srgbClr val="D97725"/>
                </a:solidFill>
                <a:latin typeface="JetBrains Mono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4379976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40">
                <a:solidFill>
                  <a:srgbClr val="FFFFFF"/>
                </a:solidFill>
                <a:latin typeface="Cabinet Grotesk"/>
              </a:rPr>
              <a:t>TANZANIA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86200" y="443484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spc="150">
                <a:solidFill>
                  <a:srgbClr val="8C8C8C"/>
                </a:solidFill>
                <a:latin typeface="JetBrains Mono"/>
              </a:rPr>
              <a:t>C&amp;I SOLAR &amp; STORAGE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4855464"/>
            <a:ext cx="6035040" cy="9525"/>
          </a:xfrm>
          <a:prstGeom prst="rect">
            <a:avLst/>
          </a:prstGeom>
          <a:solidFill>
            <a:srgbClr val="5A5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5020056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50">
                <a:solidFill>
                  <a:srgbClr val="D97725"/>
                </a:solidFill>
                <a:latin typeface="JetBrains Mono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5001768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40">
                <a:solidFill>
                  <a:srgbClr val="FFFFFF"/>
                </a:solidFill>
                <a:latin typeface="Cabinet Grotesk"/>
              </a:rPr>
              <a:t>SOMALIA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86200" y="505663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spc="150">
                <a:solidFill>
                  <a:srgbClr val="8C8C8C"/>
                </a:solidFill>
                <a:latin typeface="JetBrains Mono"/>
              </a:rPr>
              <a:t>OFF-GRID &amp; DIESEL DISPLACEMENT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5477256"/>
            <a:ext cx="6035040" cy="9525"/>
          </a:xfrm>
          <a:prstGeom prst="rect">
            <a:avLst/>
          </a:prstGeom>
          <a:solidFill>
            <a:srgbClr val="5A5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5641848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50">
                <a:solidFill>
                  <a:srgbClr val="D97725"/>
                </a:solidFill>
                <a:latin typeface="JetBrains Mono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17320" y="5623560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40">
                <a:solidFill>
                  <a:srgbClr val="FFFFFF"/>
                </a:solidFill>
                <a:latin typeface="Cabinet Grotesk"/>
              </a:rPr>
              <a:t>SOMALILAND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86200" y="5678424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spc="150">
                <a:solidFill>
                  <a:srgbClr val="8C8C8C"/>
                </a:solidFill>
                <a:latin typeface="JetBrains Mono"/>
              </a:rPr>
              <a:t>WATER &amp; UTILITY SOLAR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6099048"/>
            <a:ext cx="6035040" cy="9525"/>
          </a:xfrm>
          <a:prstGeom prst="rect">
            <a:avLst/>
          </a:prstGeom>
          <a:solidFill>
            <a:srgbClr val="5A5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presence-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914400"/>
            <a:ext cx="4396859" cy="539496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200">
                <a:solidFill>
                  <a:srgbClr val="8C8C8C"/>
                </a:solidFill>
                <a:latin typeface="JetBrains Mono"/>
              </a:rPr>
              <a:t>GJW ENERGY — TECHNO-COMMERCIAL PROPOSAL · GJW-TCO-[YYYY]-[NNN]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09960" y="6419088"/>
            <a:ext cx="320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spc="150">
                <a:solidFill>
                  <a:srgbClr val="D97725"/>
                </a:solidFill>
                <a:latin typeface="JetBrains Mono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350">
                <a:solidFill>
                  <a:srgbClr val="D97725"/>
                </a:solidFill>
                <a:latin typeface="JetBrains Mono"/>
              </a:rPr>
              <a:t>03 — YOUR REQUIREMENT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54577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400" b="1" spc="-10">
                <a:solidFill>
                  <a:srgbClr val="0A0A0C"/>
                </a:solidFill>
                <a:latin typeface="Cabinet Grotesk"/>
              </a:rPr>
              <a:t>THE BRIEF, AS WE UNDERSTAND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011680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spc="220">
                <a:solidFill>
                  <a:srgbClr val="D97725"/>
                </a:solidFill>
                <a:latin typeface="JetBrains Mono"/>
              </a:rPr>
              <a:t>CLIENT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1984248"/>
            <a:ext cx="8046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0A0A0C"/>
                </a:solidFill>
                <a:latin typeface="Satoshi"/>
              </a:rPr>
              <a:t>[CLIENT NAME]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50592"/>
            <a:ext cx="10543032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57860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spc="220">
                <a:solidFill>
                  <a:srgbClr val="D97725"/>
                </a:solidFill>
                <a:latin typeface="JetBrains Mono"/>
              </a:rPr>
              <a:t>SITE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2551176"/>
            <a:ext cx="8046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0A0A0C"/>
                </a:solidFill>
                <a:latin typeface="Satoshi"/>
              </a:rPr>
              <a:t>[SITE / FACILITY], [TOWN], [COUNTRY]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017520"/>
            <a:ext cx="10543032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145536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spc="220">
                <a:solidFill>
                  <a:srgbClr val="D97725"/>
                </a:solidFill>
                <a:latin typeface="JetBrains Mono"/>
              </a:rPr>
              <a:t>OBJECTIVE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3118104"/>
            <a:ext cx="8046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0A0A0C"/>
                </a:solidFill>
                <a:latin typeface="Satoshi"/>
              </a:rPr>
              <a:t>[Reduce grid energy costs / secure supply / displace diesel]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3584448"/>
            <a:ext cx="10543032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712464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spc="220">
                <a:solidFill>
                  <a:srgbClr val="D97725"/>
                </a:solidFill>
                <a:latin typeface="JetBrains Mono"/>
              </a:rPr>
              <a:t>LOAD PROFILE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3685032"/>
            <a:ext cx="8046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0A0A0C"/>
                </a:solidFill>
                <a:latin typeface="Satoshi"/>
              </a:rPr>
              <a:t>[Daytime baseload ±XXX kW · peak XXX kVA · XX,XXX kWh/month]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4151376"/>
            <a:ext cx="10543032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4279392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spc="220">
                <a:solidFill>
                  <a:srgbClr val="D97725"/>
                </a:solidFill>
                <a:latin typeface="JetBrains Mono"/>
              </a:rPr>
              <a:t>SUPPLY CONTEXT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1840" y="4251960"/>
            <a:ext cx="8046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0A0A0C"/>
                </a:solidFill>
                <a:latin typeface="Satoshi"/>
              </a:rPr>
              <a:t>[Utility grid — utility tariff / outage profile / genset backup]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718304"/>
            <a:ext cx="10543032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846320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spc="220">
                <a:solidFill>
                  <a:srgbClr val="D97725"/>
                </a:solidFill>
                <a:latin typeface="JetBrains Mono"/>
              </a:rPr>
              <a:t>CONSTRAINTS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91840" y="4818888"/>
            <a:ext cx="8046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0A0A0C"/>
                </a:solidFill>
                <a:latin typeface="Satoshi"/>
              </a:rPr>
              <a:t>[Roof or land availability · outage windows · interconnection limits]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285232"/>
            <a:ext cx="10543032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71500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737371"/>
                </a:solidFill>
                <a:latin typeface="Satoshi"/>
              </a:rPr>
              <a:t>Source: [site visit dated ___ / client data pack / utility bills for ___ months]. Any assumption stated here is confirmed during detailed design and does not alter the fixed price unless the physical scope changes.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200">
                <a:solidFill>
                  <a:srgbClr val="A6A6A3"/>
                </a:solidFill>
                <a:latin typeface="JetBrains Mono"/>
              </a:rPr>
              <a:t>GJW ENERGY — TECHNO-COMMERCIAL PROPOSAL · GJW-TCO-[YYYY]-[NNN]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09960" y="6419088"/>
            <a:ext cx="320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spc="150">
                <a:solidFill>
                  <a:srgbClr val="D97725"/>
                </a:solidFill>
                <a:latin typeface="JetBrains Mono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350">
                <a:solidFill>
                  <a:srgbClr val="D97725"/>
                </a:solidFill>
                <a:latin typeface="JetBrains Mono"/>
              </a:rPr>
              <a:t>04 — THE OFFER AT A GLANCE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54577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400" b="1" spc="-10">
                <a:solidFill>
                  <a:srgbClr val="0A0A0C"/>
                </a:solidFill>
                <a:latin typeface="Cabinet Grotesk"/>
              </a:rPr>
              <a:t>ONE SYSTEM. EVERY PART SIZED.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240280"/>
            <a:ext cx="1673352" cy="2103120"/>
          </a:xfrm>
          <a:prstGeom prst="rect">
            <a:avLst/>
          </a:prstGeom>
          <a:noFill/>
          <a:ln w="12700">
            <a:solidFill>
              <a:srgbClr val="D4D4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con-s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" y="2404872"/>
            <a:ext cx="384048" cy="3840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" y="2971800"/>
            <a:ext cx="134416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spc="-10">
                <a:solidFill>
                  <a:srgbClr val="0A0A0C"/>
                </a:solidFill>
                <a:latin typeface="Cabinet Grotesk"/>
              </a:rPr>
              <a:t>[___] </a:t>
            </a:r>
            <a:r>
              <a:rPr sz="1000" b="1" spc="100">
                <a:solidFill>
                  <a:srgbClr val="D97725"/>
                </a:solidFill>
                <a:latin typeface="JetBrains Mono"/>
              </a:rPr>
              <a:t>kWp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3456432"/>
            <a:ext cx="138074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spc="120">
                <a:solidFill>
                  <a:srgbClr val="737371"/>
                </a:solidFill>
                <a:latin typeface="JetBrains Mono"/>
              </a:rPr>
              <a:t>SOLAR PV</a:t>
            </a:r>
          </a:p>
        </p:txBody>
      </p:sp>
      <p:sp>
        <p:nvSpPr>
          <p:cNvPr id="9" name="Rectangle 8"/>
          <p:cNvSpPr/>
          <p:nvPr/>
        </p:nvSpPr>
        <p:spPr>
          <a:xfrm>
            <a:off x="2596896" y="2240280"/>
            <a:ext cx="1673352" cy="2103120"/>
          </a:xfrm>
          <a:prstGeom prst="rect">
            <a:avLst/>
          </a:prstGeom>
          <a:noFill/>
          <a:ln w="12700">
            <a:solidFill>
              <a:srgbClr val="D4D4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con-battery-charg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61488" y="2404872"/>
            <a:ext cx="384048" cy="3840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761488" y="2971800"/>
            <a:ext cx="134416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spc="-10">
                <a:solidFill>
                  <a:srgbClr val="0A0A0C"/>
                </a:solidFill>
                <a:latin typeface="Cabinet Grotesk"/>
              </a:rPr>
              <a:t>[___] </a:t>
            </a:r>
            <a:r>
              <a:rPr sz="1000" b="1" spc="100">
                <a:solidFill>
                  <a:srgbClr val="D97725"/>
                </a:solidFill>
                <a:latin typeface="JetBrains Mono"/>
              </a:rPr>
              <a:t>kWh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61488" y="3456432"/>
            <a:ext cx="138074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spc="120">
                <a:solidFill>
                  <a:srgbClr val="737371"/>
                </a:solidFill>
                <a:latin typeface="JetBrains Mono"/>
              </a:rPr>
              <a:t>BATTERY STORAGE (BESS)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70832" y="2240280"/>
            <a:ext cx="1673352" cy="2103120"/>
          </a:xfrm>
          <a:prstGeom prst="rect">
            <a:avLst/>
          </a:prstGeom>
          <a:noFill/>
          <a:ln w="12700">
            <a:solidFill>
              <a:srgbClr val="D4D4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con-plug-za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35424" y="2404872"/>
            <a:ext cx="384048" cy="38404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35424" y="2971800"/>
            <a:ext cx="134416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spc="-10">
                <a:solidFill>
                  <a:srgbClr val="0A0A0C"/>
                </a:solidFill>
                <a:latin typeface="Cabinet Grotesk"/>
              </a:rPr>
              <a:t>[___] </a:t>
            </a:r>
            <a:r>
              <a:rPr sz="1000" b="1" spc="100">
                <a:solidFill>
                  <a:srgbClr val="D97725"/>
                </a:solidFill>
                <a:latin typeface="JetBrains Mono"/>
              </a:rPr>
              <a:t>MVA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35424" y="3456432"/>
            <a:ext cx="138074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spc="120">
                <a:solidFill>
                  <a:srgbClr val="737371"/>
                </a:solidFill>
                <a:latin typeface="JetBrains Mono"/>
              </a:rPr>
              <a:t>TRANSFORMER &amp; DISTRIBUTION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44768" y="2240280"/>
            <a:ext cx="1673352" cy="2103120"/>
          </a:xfrm>
          <a:prstGeom prst="rect">
            <a:avLst/>
          </a:prstGeom>
          <a:noFill/>
          <a:ln w="12700">
            <a:solidFill>
              <a:srgbClr val="D4D4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icon-cab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9360" y="2404872"/>
            <a:ext cx="384048" cy="38404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309360" y="2971800"/>
            <a:ext cx="134416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spc="-10">
                <a:solidFill>
                  <a:srgbClr val="0A0A0C"/>
                </a:solidFill>
                <a:latin typeface="Cabinet Grotesk"/>
              </a:rPr>
              <a:t>[___] </a:t>
            </a:r>
            <a:r>
              <a:rPr sz="1000" b="1" spc="100">
                <a:solidFill>
                  <a:srgbClr val="D97725"/>
                </a:solidFill>
                <a:latin typeface="JetBrains Mono"/>
              </a:rPr>
              <a:t>km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3456432"/>
            <a:ext cx="138074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spc="120">
                <a:solidFill>
                  <a:srgbClr val="737371"/>
                </a:solidFill>
                <a:latin typeface="JetBrains Mono"/>
              </a:rPr>
              <a:t>TRANSMISSION LINE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18704" y="2240280"/>
            <a:ext cx="1673352" cy="2103120"/>
          </a:xfrm>
          <a:prstGeom prst="rect">
            <a:avLst/>
          </a:prstGeom>
          <a:noFill/>
          <a:ln w="12700">
            <a:solidFill>
              <a:srgbClr val="D4D4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icon-activit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83296" y="2404872"/>
            <a:ext cx="384048" cy="38404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083296" y="2971800"/>
            <a:ext cx="134416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spc="-10">
                <a:solidFill>
                  <a:srgbClr val="0A0A0C"/>
                </a:solidFill>
                <a:latin typeface="Cabinet Grotesk"/>
              </a:rPr>
              <a:t>[___] </a:t>
            </a:r>
            <a:r>
              <a:rPr sz="1000" b="1" spc="100">
                <a:solidFill>
                  <a:srgbClr val="D97725"/>
                </a:solidFill>
                <a:latin typeface="JetBrains Mono"/>
              </a:rPr>
              <a:t>kVAR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83296" y="3456432"/>
            <a:ext cx="138074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spc="120">
                <a:solidFill>
                  <a:srgbClr val="737371"/>
                </a:solidFill>
                <a:latin typeface="JetBrains Mono"/>
              </a:rPr>
              <a:t>GRID STABILISATION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692640" y="2240280"/>
            <a:ext cx="1673352" cy="2103120"/>
          </a:xfrm>
          <a:prstGeom prst="rect">
            <a:avLst/>
          </a:prstGeom>
          <a:noFill/>
          <a:ln w="12700">
            <a:solidFill>
              <a:srgbClr val="D4D4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icon-fue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57232" y="2404872"/>
            <a:ext cx="384048" cy="38404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2971800"/>
            <a:ext cx="134416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spc="-10">
                <a:solidFill>
                  <a:srgbClr val="0A0A0C"/>
                </a:solidFill>
                <a:latin typeface="Cabinet Grotesk"/>
              </a:rPr>
              <a:t>[___] </a:t>
            </a:r>
            <a:r>
              <a:rPr sz="1000" b="1" spc="100">
                <a:solidFill>
                  <a:srgbClr val="D97725"/>
                </a:solidFill>
                <a:latin typeface="JetBrains Mono"/>
              </a:rPr>
              <a:t>kVA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3456432"/>
            <a:ext cx="138074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spc="120">
                <a:solidFill>
                  <a:srgbClr val="737371"/>
                </a:solidFill>
                <a:latin typeface="JetBrains Mono"/>
              </a:rPr>
              <a:t>GENERATOR INTEGRATION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2960" y="4800600"/>
            <a:ext cx="10543032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502920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spc="250">
                <a:solidFill>
                  <a:srgbClr val="D97725"/>
                </a:solidFill>
                <a:latin typeface="JetBrains Mono"/>
              </a:rPr>
              <a:t>DELIVERY MODEL — </a:t>
            </a:r>
            <a:r>
              <a:rPr sz="1000" b="1" spc="200">
                <a:solidFill>
                  <a:srgbClr val="0A0A0C"/>
                </a:solidFill>
                <a:latin typeface="JetBrains Mono"/>
              </a:rPr>
              <a:t>EPC · FIXED LUMP-SUM · SINGLE ACCOUNTABLE ENGINEERING LEAD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553212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737371"/>
                </a:solidFill>
                <a:latin typeface="Satoshi"/>
              </a:rPr>
              <a:t>Blank figures are completed per offer after site assessment — elements not required for your site are marked N/A rather than priced in. Full engineering detail follows in the technical offer.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200">
                <a:solidFill>
                  <a:srgbClr val="A6A6A3"/>
                </a:solidFill>
                <a:latin typeface="JetBrains Mono"/>
              </a:rPr>
              <a:t>GJW ENERGY — TECHNO-COMMERCIAL PROPOSAL · GJW-TCO-[YYYY]-[NNN]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09960" y="6419088"/>
            <a:ext cx="320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spc="150">
                <a:solidFill>
                  <a:srgbClr val="D97725"/>
                </a:solidFill>
                <a:latin typeface="JetBrains Mono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350">
                <a:solidFill>
                  <a:srgbClr val="D97725"/>
                </a:solidFill>
                <a:latin typeface="JetBrains Mono"/>
              </a:rPr>
              <a:t>05 — TECHNICAL OFFER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54577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400" b="1" spc="-10">
                <a:solidFill>
                  <a:srgbClr val="0A0A0C"/>
                </a:solidFill>
                <a:latin typeface="Cabinet Grotesk"/>
              </a:rPr>
              <a:t>PROPOSED SYSTEM.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65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spc="220">
                <a:solidFill>
                  <a:srgbClr val="D97725"/>
                </a:solidFill>
                <a:latin typeface="JetBrains Mono"/>
              </a:rPr>
              <a:t>SYSTEM SIZE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0" y="1938528"/>
            <a:ext cx="74980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0A0A0C"/>
                </a:solidFill>
                <a:latin typeface="Satoshi"/>
              </a:rPr>
              <a:t>[XXX] kWp DC / [XXX] kW AC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313432"/>
            <a:ext cx="10543032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441448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spc="220">
                <a:solidFill>
                  <a:srgbClr val="D97725"/>
                </a:solidFill>
                <a:latin typeface="JetBrains Mono"/>
              </a:rPr>
              <a:t>PV MODULES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2414016"/>
            <a:ext cx="74980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0A0A0C"/>
                </a:solidFill>
                <a:latin typeface="Satoshi"/>
              </a:rPr>
              <a:t>[N × XXX Wp Tier-1 mono / n-type · make per final BOQ]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3032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916936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spc="220">
                <a:solidFill>
                  <a:srgbClr val="D97725"/>
                </a:solidFill>
                <a:latin typeface="JetBrains Mono"/>
              </a:rPr>
              <a:t>INVERTERS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2889504"/>
            <a:ext cx="74980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0A0A0C"/>
                </a:solidFill>
                <a:latin typeface="Satoshi"/>
              </a:rPr>
              <a:t>[N × XXX kW string inverters · make per final BOQ]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3264408"/>
            <a:ext cx="10543032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392424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spc="220">
                <a:solidFill>
                  <a:srgbClr val="D97725"/>
                </a:solidFill>
                <a:latin typeface="JetBrains Mono"/>
              </a:rPr>
              <a:t>STORAGE (OPTION)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0" y="3364992"/>
            <a:ext cx="74980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0A0A0C"/>
                </a:solidFill>
                <a:latin typeface="Satoshi"/>
              </a:rPr>
              <a:t>[XXX kWh LFP BESS · hybrid inverter / PCS]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3739896"/>
            <a:ext cx="10543032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867912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spc="220">
                <a:solidFill>
                  <a:srgbClr val="D97725"/>
                </a:solidFill>
                <a:latin typeface="JetBrains Mono"/>
              </a:rPr>
              <a:t>GRID INTERFACE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0" y="3840480"/>
            <a:ext cx="74980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0A0A0C"/>
                </a:solidFill>
                <a:latin typeface="Satoshi"/>
              </a:rPr>
              <a:t>[Grid-tied / grid-stabilising · protection &amp; synchronisation per utility]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215384"/>
            <a:ext cx="10543032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3434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spc="220">
                <a:solidFill>
                  <a:srgbClr val="D97725"/>
                </a:solidFill>
                <a:latin typeface="JetBrains Mono"/>
              </a:rPr>
              <a:t>MOUNTING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40480" y="4315968"/>
            <a:ext cx="74980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0A0A0C"/>
                </a:solidFill>
                <a:latin typeface="Satoshi"/>
              </a:rPr>
              <a:t>[Roof / ground-mounted · hot-dip galvanised structure]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4690872"/>
            <a:ext cx="10543032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4818888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spc="220">
                <a:solidFill>
                  <a:srgbClr val="D97725"/>
                </a:solidFill>
                <a:latin typeface="JetBrains Mono"/>
              </a:rPr>
              <a:t>MONITORING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40480" y="4791456"/>
            <a:ext cx="74980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0A0A0C"/>
                </a:solidFill>
                <a:latin typeface="Satoshi"/>
              </a:rPr>
              <a:t>[String-level monitoring · remote portal · generation meter]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5166360"/>
            <a:ext cx="10543032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5294376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spc="220">
                <a:solidFill>
                  <a:srgbClr val="D97725"/>
                </a:solidFill>
                <a:latin typeface="JetBrains Mono"/>
              </a:rPr>
              <a:t>EST. YIELD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480" y="5266944"/>
            <a:ext cx="74980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0A0A0C"/>
                </a:solidFill>
                <a:latin typeface="Satoshi"/>
              </a:rPr>
              <a:t>[X,XXX MWh in year one · PR ≥ XX%]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2960" y="5641848"/>
            <a:ext cx="10543032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58978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737371"/>
                </a:solidFill>
                <a:latin typeface="Satoshi"/>
              </a:rPr>
              <a:t>Engineering basis: PVsyst simulation, utility interconnection study and structural verification precede construction. All equipment is Tier-1 with manufacturer warranties registered to the client.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200">
                <a:solidFill>
                  <a:srgbClr val="A6A6A3"/>
                </a:solidFill>
                <a:latin typeface="JetBrains Mono"/>
              </a:rPr>
              <a:t>GJW ENERGY — TECHNO-COMMERCIAL PROPOSAL · GJW-TCO-[YYYY]-[NNN]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09960" y="6419088"/>
            <a:ext cx="320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spc="150">
                <a:solidFill>
                  <a:srgbClr val="D97725"/>
                </a:solidFill>
                <a:latin typeface="JetBrains Mono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350">
                <a:solidFill>
                  <a:srgbClr val="D97725"/>
                </a:solidFill>
                <a:latin typeface="JetBrains Mono"/>
              </a:rPr>
              <a:t>06 — SCOPE OF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54577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400" b="1" spc="-10">
                <a:solidFill>
                  <a:srgbClr val="0A0A0C"/>
                </a:solidFill>
                <a:latin typeface="Cabinet Grotesk"/>
              </a:rPr>
              <a:t>ONE CONTRACT. FULL ACCOUNTABILITY.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057400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spc="100">
                <a:solidFill>
                  <a:srgbClr val="D97725"/>
                </a:solidFill>
                <a:latin typeface="JetBrains Mono"/>
              </a:rP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2075688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spc="40">
                <a:solidFill>
                  <a:srgbClr val="0A0A0C"/>
                </a:solidFill>
                <a:latin typeface="Cabinet Grotesk"/>
              </a:rPr>
              <a:t>ENGINEERING &amp; DESIGN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92040" y="2075688"/>
            <a:ext cx="6492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737371"/>
                </a:solidFill>
                <a:latin typeface="Satoshi"/>
              </a:rPr>
              <a:t>Site survey &amp; yield assessment · PVsyst design · single-line diagrams · structural checks · utility application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2724912"/>
            <a:ext cx="10543032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926080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spc="100">
                <a:solidFill>
                  <a:srgbClr val="D97725"/>
                </a:solidFill>
                <a:latin typeface="JetBrains Mono"/>
              </a:rPr>
              <a:t>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2944368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spc="40">
                <a:solidFill>
                  <a:srgbClr val="0A0A0C"/>
                </a:solidFill>
                <a:latin typeface="Cabinet Grotesk"/>
              </a:rPr>
              <a:t>PROCUREMENT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92040" y="2944368"/>
            <a:ext cx="6492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737371"/>
                </a:solidFill>
                <a:latin typeface="Satoshi"/>
              </a:rPr>
              <a:t>Tier-1 equipment sourcing · factory inspections · logistics &amp; customs · materials received &amp; stored to spec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3593592"/>
            <a:ext cx="10543032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794760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spc="100">
                <a:solidFill>
                  <a:srgbClr val="D97725"/>
                </a:solidFill>
                <a:latin typeface="JetBrains Mono"/>
              </a:rPr>
              <a:t>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3813048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spc="40">
                <a:solidFill>
                  <a:srgbClr val="0A0A0C"/>
                </a:solidFill>
                <a:latin typeface="Cabinet Grotesk"/>
              </a:rPr>
              <a:t>CONSTRUCTION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92040" y="3813048"/>
            <a:ext cx="6492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737371"/>
                </a:solidFill>
                <a:latin typeface="Satoshi"/>
              </a:rPr>
              <a:t>Civil &amp; structural works · mechanical &amp; electrical installation · grid interconnection · HSE-managed site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4462272"/>
            <a:ext cx="10543032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4663440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spc="100">
                <a:solidFill>
                  <a:srgbClr val="D97725"/>
                </a:solidFill>
                <a:latin typeface="JetBrains Mono"/>
              </a:rPr>
              <a:t>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4681728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spc="40">
                <a:solidFill>
                  <a:srgbClr val="0A0A0C"/>
                </a:solidFill>
                <a:latin typeface="Cabinet Grotesk"/>
              </a:rPr>
              <a:t>COMMISSIONING &amp; HANDOVER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92040" y="4681728"/>
            <a:ext cx="6492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737371"/>
                </a:solidFill>
                <a:latin typeface="Satoshi"/>
              </a:rPr>
              <a:t>Testing &amp; commissioning · acceptance tests with client · as-built dossier · operator training · O&amp;M handover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5330952"/>
            <a:ext cx="10543032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200">
                <a:solidFill>
                  <a:srgbClr val="A6A6A3"/>
                </a:solidFill>
                <a:latin typeface="JetBrains Mono"/>
              </a:rPr>
              <a:t>GJW ENERGY — TECHNO-COMMERCIAL PROPOSAL · GJW-TCO-[YYYY]-[NNN]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09960" y="6419088"/>
            <a:ext cx="320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spc="150">
                <a:solidFill>
                  <a:srgbClr val="D97725"/>
                </a:solidFill>
                <a:latin typeface="JetBrains Mono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350">
                <a:solidFill>
                  <a:srgbClr val="D97725"/>
                </a:solidFill>
                <a:latin typeface="JetBrains Mono"/>
              </a:rPr>
              <a:t>07 — SCOPE, IN THE OPEN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54577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400" b="1" spc="-10">
                <a:solidFill>
                  <a:srgbClr val="0A0A0C"/>
                </a:solidFill>
                <a:latin typeface="Cabinet Grotesk"/>
              </a:rPr>
              <a:t>PRICED IN. NOT SPRUNG ON YOU.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6596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250">
                <a:solidFill>
                  <a:srgbClr val="D97725"/>
                </a:solidFill>
                <a:latin typeface="JetBrains Mono"/>
              </a:rPr>
              <a:t>IN OUR PRICE — ITEMS OTHERS HIDE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33172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97725"/>
                </a:solidFill>
                <a:latin typeface="JetBrains Mono"/>
              </a:rPr>
              <a:t>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340864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0A0A0C"/>
                </a:solidFill>
                <a:latin typeface="Satoshi"/>
              </a:rPr>
              <a:t>Module cleaning walkways &amp; access paths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2679192"/>
            <a:ext cx="4983480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798064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97725"/>
                </a:solidFill>
                <a:latin typeface="JetBrains Mono"/>
              </a:rP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807208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0A0A0C"/>
                </a:solidFill>
                <a:latin typeface="Satoshi"/>
              </a:rPr>
              <a:t>Guard rails &amp; edge protection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3145536"/>
            <a:ext cx="4983480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264408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97725"/>
                </a:solidFill>
                <a:latin typeface="JetBrains Mono"/>
              </a:rPr>
              <a:t>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273552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0A0A0C"/>
                </a:solidFill>
                <a:latin typeface="Satoshi"/>
              </a:rPr>
              <a:t>Roof access — ladders, hatches &amp; steps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611880"/>
            <a:ext cx="4983480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730752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97725"/>
                </a:solidFill>
                <a:latin typeface="JetBrains Mono"/>
              </a:rPr>
              <a:t>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3739896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0A0A0C"/>
                </a:solidFill>
                <a:latin typeface="Satoshi"/>
              </a:rPr>
              <a:t>Safety lines &amp; anchor points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4078224"/>
            <a:ext cx="4983480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4197096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97725"/>
                </a:solidFill>
                <a:latin typeface="JetBrains Mono"/>
              </a:rPr>
              <a:t>+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4206240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0A0A0C"/>
                </a:solidFill>
                <a:latin typeface="Satoshi"/>
              </a:rPr>
              <a:t>Generator integration &amp; synchronisation controls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4544568"/>
            <a:ext cx="4983480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466344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97725"/>
                </a:solidFill>
                <a:latin typeface="JetBrains Mono"/>
              </a:rPr>
              <a:t>+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4672584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0A0A0C"/>
                </a:solidFill>
                <a:latin typeface="Satoshi"/>
              </a:rPr>
              <a:t>Cable tray, trenching &amp; cable management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5010912"/>
            <a:ext cx="4983480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5129784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97725"/>
                </a:solidFill>
                <a:latin typeface="JetBrains Mono"/>
              </a:rPr>
              <a:t>+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" y="5138928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0A0A0C"/>
                </a:solidFill>
                <a:latin typeface="Satoshi"/>
              </a:rPr>
              <a:t>Earthing &amp; lightning protection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5477256"/>
            <a:ext cx="4983480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5596128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97725"/>
                </a:solidFill>
                <a:latin typeface="JetBrains Mono"/>
              </a:rPr>
              <a:t>+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5605272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0A0A0C"/>
                </a:solidFill>
                <a:latin typeface="Satoshi"/>
              </a:rPr>
              <a:t>As-built documentation, training &amp; handover pack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2960" y="5943600"/>
            <a:ext cx="4983480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196596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250">
                <a:solidFill>
                  <a:srgbClr val="D97725"/>
                </a:solidFill>
                <a:latin typeface="JetBrains Mono"/>
              </a:rPr>
              <a:t>CLIENT / UTILITY SIDE — FLAGGED UPFRONT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33172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A6A6A3"/>
                </a:solidFill>
                <a:latin typeface="JetBrains Mono"/>
              </a:rP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20840" y="2340864"/>
            <a:ext cx="4617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737371"/>
                </a:solidFill>
                <a:latin typeface="Satoshi"/>
              </a:rPr>
              <a:t>Utility application &amp; connection fees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0" y="2679192"/>
            <a:ext cx="4965192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0" y="2798064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A6A6A3"/>
                </a:solidFill>
                <a:latin typeface="JetBrains Mono"/>
              </a:rPr>
              <a:t>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20840" y="2807208"/>
            <a:ext cx="4617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737371"/>
                </a:solidFill>
                <a:latin typeface="Satoshi"/>
              </a:rPr>
              <a:t>Grid network reinforcement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0" y="3145536"/>
            <a:ext cx="4965192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0" y="3264408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A6A6A3"/>
                </a:solidFill>
                <a:latin typeface="JetBrains Mono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0840" y="3273552"/>
            <a:ext cx="4617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737371"/>
                </a:solidFill>
                <a:latin typeface="Satoshi"/>
              </a:rPr>
              <a:t>VAT / import duties — unless expressly stated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0" y="3611880"/>
            <a:ext cx="4965192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0" y="3730752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A6A6A3"/>
                </a:solidFill>
                <a:latin typeface="JetBrains Mono"/>
              </a:rPr>
              <a:t>—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20840" y="3739896"/>
            <a:ext cx="4617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737371"/>
                </a:solidFill>
                <a:latin typeface="Satoshi"/>
              </a:rPr>
              <a:t>Structural roof upgrades beyond the agreed scope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00800" y="4078224"/>
            <a:ext cx="4965192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0" y="4197096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A6A6A3"/>
                </a:solidFill>
                <a:latin typeface="JetBrains Mono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20840" y="4206240"/>
            <a:ext cx="4617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737371"/>
                </a:solidFill>
                <a:latin typeface="Satoshi"/>
              </a:rPr>
              <a:t>Land works beyond the agreed platform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400800" y="4544568"/>
            <a:ext cx="4965192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22960" y="5623560"/>
            <a:ext cx="10543032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22960" y="585216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0A0A0C"/>
                </a:solidFill>
                <a:latin typeface="Satoshi"/>
              </a:rPr>
              <a:t>If it is required to deliver the system properly and safely, it is in our price. Anything outside scope is flagged before signature — never after.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200">
                <a:solidFill>
                  <a:srgbClr val="A6A6A3"/>
                </a:solidFill>
                <a:latin typeface="JetBrains Mono"/>
              </a:rPr>
              <a:t>GJW ENERGY — TECHNO-COMMERCIAL PROPOSAL · GJW-TCO-[YYYY]-[NNN]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109960" y="6419088"/>
            <a:ext cx="320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spc="150">
                <a:solidFill>
                  <a:srgbClr val="D97725"/>
                </a:solidFill>
                <a:latin typeface="JetBrains Mono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350">
                <a:solidFill>
                  <a:srgbClr val="D97725"/>
                </a:solidFill>
                <a:latin typeface="JetBrains Mono"/>
              </a:rPr>
              <a:t>08 — DELIVERY PROGRAMME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54577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400" b="1" spc="-10">
                <a:solidFill>
                  <a:srgbClr val="0A0A0C"/>
                </a:solidFill>
                <a:latin typeface="Cabinet Grotesk"/>
              </a:rPr>
              <a:t>BUILT AT UTILITY SCALE AND SPEED.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2103120"/>
          <a:ext cx="10543032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6949440"/>
                <a:gridCol w="2587752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950" b="1" spc="250">
                          <a:solidFill>
                            <a:srgbClr val="D97725"/>
                          </a:solidFill>
                          <a:latin typeface="JetBrains Mono"/>
                        </a:rPr>
                        <a:t/>
                      </a:r>
                    </a:p>
                  </a:txBody>
                  <a:tcPr anchor="ctr" marL="109728" marR="109728" marT="45720" marB="45720">
                    <a:solidFill>
                      <a:srgbClr val="0A0A0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 spc="250">
                          <a:solidFill>
                            <a:srgbClr val="D97725"/>
                          </a:solidFill>
                          <a:latin typeface="JetBrains Mono"/>
                        </a:rPr>
                        <a:t>PHASE</a:t>
                      </a:r>
                    </a:p>
                  </a:txBody>
                  <a:tcPr anchor="ctr" marL="109728" marR="109728" marT="45720" marB="45720">
                    <a:solidFill>
                      <a:srgbClr val="0A0A0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 spc="250">
                          <a:solidFill>
                            <a:srgbClr val="D97725"/>
                          </a:solidFill>
                          <a:latin typeface="JetBrains Mono"/>
                        </a:rPr>
                        <a:t>TIMELINE</a:t>
                      </a:r>
                    </a:p>
                  </a:txBody>
                  <a:tcPr anchor="ctr" marL="109728" marR="109728" marT="45720" marB="45720">
                    <a:solidFill>
                      <a:srgbClr val="0A0A0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 spc="100">
                          <a:solidFill>
                            <a:srgbClr val="D97725"/>
                          </a:solidFill>
                          <a:latin typeface="JetBrains Mono"/>
                        </a:rPr>
                        <a:t>01</a:t>
                      </a:r>
                    </a:p>
                  </a:txBody>
                  <a:tcPr anchor="ctr"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A0A0C"/>
                          </a:solidFill>
                          <a:latin typeface="Satoshi"/>
                        </a:rPr>
                        <a:t>Contract &amp; mobilisation</a:t>
                      </a:r>
                    </a:p>
                  </a:txBody>
                  <a:tcPr anchor="ctr"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spc="100">
                          <a:solidFill>
                            <a:srgbClr val="737371"/>
                          </a:solidFill>
                          <a:latin typeface="JetBrains Mono"/>
                        </a:rPr>
                        <a:t>[WKS 1–2]</a:t>
                      </a:r>
                    </a:p>
                  </a:txBody>
                  <a:tcPr anchor="ctr" marL="109728" marR="109728" marT="45720" marB="4572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 spc="100">
                          <a:solidFill>
                            <a:srgbClr val="D97725"/>
                          </a:solidFill>
                          <a:latin typeface="JetBrains Mono"/>
                        </a:rPr>
                        <a:t>02</a:t>
                      </a:r>
                    </a:p>
                  </a:txBody>
                  <a:tcPr anchor="ctr" marL="109728" marR="109728" marT="45720" marB="45720">
                    <a:solidFill>
                      <a:srgbClr val="F7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A0A0C"/>
                          </a:solidFill>
                          <a:latin typeface="Satoshi"/>
                        </a:rPr>
                        <a:t>Detailed design &amp; utility approvals</a:t>
                      </a:r>
                    </a:p>
                  </a:txBody>
                  <a:tcPr anchor="ctr" marL="109728" marR="109728" marT="45720" marB="45720">
                    <a:solidFill>
                      <a:srgbClr val="F7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spc="100">
                          <a:solidFill>
                            <a:srgbClr val="737371"/>
                          </a:solidFill>
                          <a:latin typeface="JetBrains Mono"/>
                        </a:rPr>
                        <a:t>[WKS 2–5]</a:t>
                      </a:r>
                    </a:p>
                  </a:txBody>
                  <a:tcPr anchor="ctr" marL="109728" marR="109728" marT="45720" marB="45720">
                    <a:solidFill>
                      <a:srgbClr val="F7F7F5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 spc="100">
                          <a:solidFill>
                            <a:srgbClr val="D97725"/>
                          </a:solidFill>
                          <a:latin typeface="JetBrains Mono"/>
                        </a:rPr>
                        <a:t>03</a:t>
                      </a:r>
                    </a:p>
                  </a:txBody>
                  <a:tcPr anchor="ctr"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A0A0C"/>
                          </a:solidFill>
                          <a:latin typeface="Satoshi"/>
                        </a:rPr>
                        <a:t>Procurement &amp; logistics</a:t>
                      </a:r>
                    </a:p>
                  </a:txBody>
                  <a:tcPr anchor="ctr"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spc="100">
                          <a:solidFill>
                            <a:srgbClr val="737371"/>
                          </a:solidFill>
                          <a:latin typeface="JetBrains Mono"/>
                        </a:rPr>
                        <a:t>[WKS 4–10]</a:t>
                      </a:r>
                    </a:p>
                  </a:txBody>
                  <a:tcPr anchor="ctr" marL="109728" marR="109728" marT="45720" marB="4572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 spc="100">
                          <a:solidFill>
                            <a:srgbClr val="D97725"/>
                          </a:solidFill>
                          <a:latin typeface="JetBrains Mono"/>
                        </a:rPr>
                        <a:t>04</a:t>
                      </a:r>
                    </a:p>
                  </a:txBody>
                  <a:tcPr anchor="ctr" marL="109728" marR="109728" marT="45720" marB="45720">
                    <a:solidFill>
                      <a:srgbClr val="F7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A0A0C"/>
                          </a:solidFill>
                          <a:latin typeface="Satoshi"/>
                        </a:rPr>
                        <a:t>Construction &amp; installation</a:t>
                      </a:r>
                    </a:p>
                  </a:txBody>
                  <a:tcPr anchor="ctr" marL="109728" marR="109728" marT="45720" marB="45720">
                    <a:solidFill>
                      <a:srgbClr val="F7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spc="100">
                          <a:solidFill>
                            <a:srgbClr val="737371"/>
                          </a:solidFill>
                          <a:latin typeface="JetBrains Mono"/>
                        </a:rPr>
                        <a:t>[WKS 8–16]</a:t>
                      </a:r>
                    </a:p>
                  </a:txBody>
                  <a:tcPr anchor="ctr" marL="109728" marR="109728" marT="45720" marB="45720">
                    <a:solidFill>
                      <a:srgbClr val="F7F7F5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 spc="100">
                          <a:solidFill>
                            <a:srgbClr val="D97725"/>
                          </a:solidFill>
                          <a:latin typeface="JetBrains Mono"/>
                        </a:rPr>
                        <a:t>05</a:t>
                      </a:r>
                    </a:p>
                  </a:txBody>
                  <a:tcPr anchor="ctr"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A0A0C"/>
                          </a:solidFill>
                          <a:latin typeface="Satoshi"/>
                        </a:rPr>
                        <a:t>Testing, commissioning &amp; handover</a:t>
                      </a:r>
                    </a:p>
                  </a:txBody>
                  <a:tcPr anchor="ctr"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spc="100">
                          <a:solidFill>
                            <a:srgbClr val="737371"/>
                          </a:solidFill>
                          <a:latin typeface="JetBrains Mono"/>
                        </a:rPr>
                        <a:t>[WKS 16–18]</a:t>
                      </a:r>
                    </a:p>
                  </a:txBody>
                  <a:tcPr anchor="ctr" marL="109728" marR="109728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571500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737371"/>
                </a:solidFill>
                <a:latin typeface="Satoshi"/>
              </a:rPr>
              <a:t>Programme assumes timely utility approvals and site access. A week-by-week schedule is issued at contract signature and tracked to completion.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200">
                <a:solidFill>
                  <a:srgbClr val="A6A6A3"/>
                </a:solidFill>
                <a:latin typeface="JetBrains Mono"/>
              </a:rPr>
              <a:t>GJW ENERGY — TECHNO-COMMERCIAL PROPOSAL · GJW-TCO-[YYYY]-[NNN]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6419088"/>
            <a:ext cx="320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spc="150">
                <a:solidFill>
                  <a:srgbClr val="D97725"/>
                </a:solidFill>
                <a:latin typeface="JetBrains Mono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350">
                <a:solidFill>
                  <a:srgbClr val="D97725"/>
                </a:solidFill>
                <a:latin typeface="JetBrains Mono"/>
              </a:rPr>
              <a:t>09 — PROOF, NOT PROMISES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54577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400" b="1" spc="-10">
                <a:solidFill>
                  <a:srgbClr val="FFFFFF"/>
                </a:solidFill>
                <a:latin typeface="Cabinet Grotesk"/>
              </a:rPr>
              <a:t>DELIVERED BY THIS TEAM.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03120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spc="40">
                <a:solidFill>
                  <a:srgbClr val="FFFFFF"/>
                </a:solidFill>
                <a:latin typeface="Cabinet Grotesk"/>
              </a:rPr>
              <a:t>TATA CHEMICALS · MAGADI, KENYA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395728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spc="120">
                <a:solidFill>
                  <a:srgbClr val="8C8C8C"/>
                </a:solidFill>
                <a:latin typeface="JetBrains Mono"/>
              </a:rPr>
              <a:t>5.1 MWp on-grid solar · grid stabilisation · D&amp;T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688336"/>
            <a:ext cx="6035040" cy="9525"/>
          </a:xfrm>
          <a:prstGeom prst="rect">
            <a:avLst/>
          </a:prstGeom>
          <a:solidFill>
            <a:srgbClr val="5A5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86207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spc="40">
                <a:solidFill>
                  <a:srgbClr val="FFFFFF"/>
                </a:solidFill>
                <a:latin typeface="Cabinet Grotesk"/>
              </a:rPr>
              <a:t>DEVKI GROUP PORTFOLIO · KENYA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154680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spc="120">
                <a:solidFill>
                  <a:srgbClr val="8C8C8C"/>
                </a:solidFill>
                <a:latin typeface="JetBrains Mono"/>
              </a:rPr>
              <a:t>3.8 MWp rooftop across 4 manufacturing sites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447288"/>
            <a:ext cx="6035040" cy="9525"/>
          </a:xfrm>
          <a:prstGeom prst="rect">
            <a:avLst/>
          </a:prstGeom>
          <a:solidFill>
            <a:srgbClr val="5A5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621024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spc="40">
                <a:solidFill>
                  <a:srgbClr val="FFFFFF"/>
                </a:solidFill>
                <a:latin typeface="Cabinet Grotesk"/>
              </a:rPr>
              <a:t>TATU CITY SEZ · KENYA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91363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spc="120">
                <a:solidFill>
                  <a:srgbClr val="8C8C8C"/>
                </a:solidFill>
                <a:latin typeface="JetBrains Mono"/>
              </a:rPr>
              <a:t>2.05 MW rooftop · 3,468 modules · mixed-use city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4206240"/>
            <a:ext cx="6035040" cy="9525"/>
          </a:xfrm>
          <a:prstGeom prst="rect">
            <a:avLst/>
          </a:prstGeom>
          <a:solidFill>
            <a:srgbClr val="5A5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379976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spc="40">
                <a:solidFill>
                  <a:srgbClr val="FFFFFF"/>
                </a:solidFill>
                <a:latin typeface="Cabinet Grotesk"/>
              </a:rPr>
              <a:t>SAJ CERAMICS · KENYA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672584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spc="120">
                <a:solidFill>
                  <a:srgbClr val="8C8C8C"/>
                </a:solidFill>
                <a:latin typeface="JetBrains Mono"/>
              </a:rPr>
              <a:t>693 kWp rooftop + genset control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4965192"/>
            <a:ext cx="6035040" cy="9525"/>
          </a:xfrm>
          <a:prstGeom prst="rect">
            <a:avLst/>
          </a:prstGeom>
          <a:solidFill>
            <a:srgbClr val="5A5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5138928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spc="40">
                <a:solidFill>
                  <a:srgbClr val="FFFFFF"/>
                </a:solidFill>
                <a:latin typeface="Cabinet Grotesk"/>
              </a:rPr>
              <a:t>KINONDO KWETU · DIANI, KENYA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431536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spc="120">
                <a:solidFill>
                  <a:srgbClr val="8C8C8C"/>
                </a:solidFill>
                <a:latin typeface="JetBrains Mono"/>
              </a:rPr>
              <a:t>Off-grid solar PV + BESS · diesel displaced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5724144"/>
            <a:ext cx="6035040" cy="9525"/>
          </a:xfrm>
          <a:prstGeom prst="rect">
            <a:avLst/>
          </a:prstGeom>
          <a:solidFill>
            <a:srgbClr val="5A5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tata-aerial-top.jpg"/>
          <p:cNvPicPr>
            <a:picLocks noChangeAspect="1"/>
          </p:cNvPicPr>
          <p:nvPr/>
        </p:nvPicPr>
        <p:blipFill>
          <a:blip r:embed="rId2"/>
          <a:srcRect t="8000" b="8000"/>
          <a:stretch>
            <a:fillRect/>
          </a:stretch>
        </p:blipFill>
        <p:spPr>
          <a:xfrm>
            <a:off x="7452360" y="2103120"/>
            <a:ext cx="3913632" cy="2935224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7452360" y="2103120"/>
            <a:ext cx="3913632" cy="27940"/>
          </a:xfrm>
          <a:prstGeom prst="rect">
            <a:avLst/>
          </a:prstGeom>
          <a:solidFill>
            <a:srgbClr val="D977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52360" y="6144768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150">
                <a:solidFill>
                  <a:srgbClr val="8C8C8C"/>
                </a:solidFill>
                <a:latin typeface="JetBrains Mono"/>
              </a:rPr>
              <a:t>TATA CHEMICALS MAGADI — 5.1 MWP · COMMISSIONED [2025]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200">
                <a:solidFill>
                  <a:srgbClr val="8C8C8C"/>
                </a:solidFill>
                <a:latin typeface="JetBrains Mono"/>
              </a:rPr>
              <a:t>GJW ENERGY — TECHNO-COMMERCIAL PROPOSAL · GJW-TCO-[YYYY]-[NNN]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09960" y="6419088"/>
            <a:ext cx="320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spc="150">
                <a:solidFill>
                  <a:srgbClr val="D97725"/>
                </a:solidFill>
                <a:latin typeface="JetBrains Mon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350">
                <a:solidFill>
                  <a:srgbClr val="D97725"/>
                </a:solidFill>
                <a:latin typeface="JetBrains Mono"/>
              </a:rPr>
              <a:t>10 — COMMERCIAL OFFER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54577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10">
                <a:solidFill>
                  <a:srgbClr val="0A0A0C"/>
                </a:solidFill>
                <a:latin typeface="Cabinet Grotesk"/>
              </a:rPr>
              <a:t>THE LOWEST CAPEX ISN'T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81328"/>
            <a:ext cx="1054577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spc="-10">
                <a:solidFill>
                  <a:srgbClr val="0A0A0C"/>
                </a:solidFill>
                <a:latin typeface="Cabinet Grotesk"/>
              </a:rPr>
              <a:t>ALWAYS THE LOWEST COST.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2240280"/>
          <a:ext cx="10543032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7434072"/>
                <a:gridCol w="237744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950" b="1" spc="250">
                          <a:solidFill>
                            <a:srgbClr val="D97725"/>
                          </a:solidFill>
                          <a:latin typeface="JetBrains Mono"/>
                        </a:rPr>
                        <a:t/>
                      </a:r>
                    </a:p>
                  </a:txBody>
                  <a:tcPr anchor="ctr" marL="109728" marR="109728" marT="45720" marB="45720">
                    <a:solidFill>
                      <a:srgbClr val="0A0A0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 spc="250">
                          <a:solidFill>
                            <a:srgbClr val="D97725"/>
                          </a:solidFill>
                          <a:latin typeface="JetBrains Mono"/>
                        </a:rPr>
                        <a:t>SCOPE LINE</a:t>
                      </a:r>
                    </a:p>
                  </a:txBody>
                  <a:tcPr anchor="ctr" marL="109728" marR="109728" marT="45720" marB="45720">
                    <a:solidFill>
                      <a:srgbClr val="0A0A0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 spc="250">
                          <a:solidFill>
                            <a:srgbClr val="D97725"/>
                          </a:solidFill>
                          <a:latin typeface="JetBrains Mono"/>
                        </a:rPr>
                        <a:t>AMOUNT</a:t>
                      </a:r>
                    </a:p>
                  </a:txBody>
                  <a:tcPr anchor="ctr" marL="109728" marR="109728" marT="45720" marB="45720">
                    <a:solidFill>
                      <a:srgbClr val="0A0A0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 b="1" spc="100">
                          <a:solidFill>
                            <a:srgbClr val="D97725"/>
                          </a:solidFill>
                          <a:latin typeface="JetBrains Mono"/>
                        </a:rPr>
                        <a:t>1</a:t>
                      </a:r>
                    </a:p>
                  </a:txBody>
                  <a:tcPr anchor="ctr"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A0A0C"/>
                          </a:solidFill>
                          <a:latin typeface="Satoshi"/>
                        </a:rPr>
                        <a:t>Engineering, design &amp; approvals</a:t>
                      </a:r>
                    </a:p>
                  </a:txBody>
                  <a:tcPr anchor="ctr"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spc="100">
                          <a:solidFill>
                            <a:srgbClr val="737371"/>
                          </a:solidFill>
                          <a:latin typeface="JetBrains Mono"/>
                        </a:rPr>
                        <a:t>[USD —]</a:t>
                      </a:r>
                    </a:p>
                  </a:txBody>
                  <a:tcPr anchor="ctr" marL="109728" marR="109728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 b="1" spc="100">
                          <a:solidFill>
                            <a:srgbClr val="D97725"/>
                          </a:solidFill>
                          <a:latin typeface="JetBrains Mono"/>
                        </a:rPr>
                        <a:t>2</a:t>
                      </a:r>
                    </a:p>
                  </a:txBody>
                  <a:tcPr anchor="ctr" marL="109728" marR="109728" marT="45720" marB="45720">
                    <a:solidFill>
                      <a:srgbClr val="F7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A0A0C"/>
                          </a:solidFill>
                          <a:latin typeface="Satoshi"/>
                        </a:rPr>
                        <a:t>Equipment supply — PV, inverters[, BESS], BOS</a:t>
                      </a:r>
                    </a:p>
                  </a:txBody>
                  <a:tcPr anchor="ctr" marL="109728" marR="109728" marT="45720" marB="45720">
                    <a:solidFill>
                      <a:srgbClr val="F7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spc="100">
                          <a:solidFill>
                            <a:srgbClr val="737371"/>
                          </a:solidFill>
                          <a:latin typeface="JetBrains Mono"/>
                        </a:rPr>
                        <a:t>[USD —]</a:t>
                      </a:r>
                    </a:p>
                  </a:txBody>
                  <a:tcPr anchor="ctr" marL="109728" marR="109728" marT="45720" marB="45720">
                    <a:solidFill>
                      <a:srgbClr val="F7F7F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 b="1" spc="100">
                          <a:solidFill>
                            <a:srgbClr val="D97725"/>
                          </a:solidFill>
                          <a:latin typeface="JetBrains Mono"/>
                        </a:rPr>
                        <a:t>3</a:t>
                      </a:r>
                    </a:p>
                  </a:txBody>
                  <a:tcPr anchor="ctr"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A0A0C"/>
                          </a:solidFill>
                          <a:latin typeface="Satoshi"/>
                        </a:rPr>
                        <a:t>Civil, structural &amp; electrical installation</a:t>
                      </a:r>
                    </a:p>
                  </a:txBody>
                  <a:tcPr anchor="ctr"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spc="100">
                          <a:solidFill>
                            <a:srgbClr val="737371"/>
                          </a:solidFill>
                          <a:latin typeface="JetBrains Mono"/>
                        </a:rPr>
                        <a:t>[USD —]</a:t>
                      </a:r>
                    </a:p>
                  </a:txBody>
                  <a:tcPr anchor="ctr" marL="109728" marR="109728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 b="1" spc="100">
                          <a:solidFill>
                            <a:srgbClr val="D97725"/>
                          </a:solidFill>
                          <a:latin typeface="JetBrains Mono"/>
                        </a:rPr>
                        <a:t>4</a:t>
                      </a:r>
                    </a:p>
                  </a:txBody>
                  <a:tcPr anchor="ctr" marL="109728" marR="109728" marT="45720" marB="45720">
                    <a:solidFill>
                      <a:srgbClr val="F7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A0A0C"/>
                          </a:solidFill>
                          <a:latin typeface="Satoshi"/>
                        </a:rPr>
                        <a:t>Grid interconnection &amp; protection</a:t>
                      </a:r>
                    </a:p>
                  </a:txBody>
                  <a:tcPr anchor="ctr" marL="109728" marR="109728" marT="45720" marB="45720">
                    <a:solidFill>
                      <a:srgbClr val="F7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spc="100">
                          <a:solidFill>
                            <a:srgbClr val="737371"/>
                          </a:solidFill>
                          <a:latin typeface="JetBrains Mono"/>
                        </a:rPr>
                        <a:t>[USD —]</a:t>
                      </a:r>
                    </a:p>
                  </a:txBody>
                  <a:tcPr anchor="ctr" marL="109728" marR="109728" marT="45720" marB="45720">
                    <a:solidFill>
                      <a:srgbClr val="F7F7F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 b="1" spc="100">
                          <a:solidFill>
                            <a:srgbClr val="D97725"/>
                          </a:solidFill>
                          <a:latin typeface="JetBrains Mono"/>
                        </a:rPr>
                        <a:t>5</a:t>
                      </a:r>
                    </a:p>
                  </a:txBody>
                  <a:tcPr anchor="ctr"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A0A0C"/>
                          </a:solidFill>
                          <a:latin typeface="Satoshi"/>
                        </a:rPr>
                        <a:t>Testing, commissioning &amp; handover</a:t>
                      </a:r>
                    </a:p>
                  </a:txBody>
                  <a:tcPr anchor="ctr"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spc="100">
                          <a:solidFill>
                            <a:srgbClr val="737371"/>
                          </a:solidFill>
                          <a:latin typeface="JetBrains Mono"/>
                        </a:rPr>
                        <a:t>[USD —]</a:t>
                      </a:r>
                    </a:p>
                  </a:txBody>
                  <a:tcPr anchor="ctr" marL="109728" marR="109728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 b="1" spc="100">
                          <a:solidFill>
                            <a:srgbClr val="D97725"/>
                          </a:solidFill>
                          <a:latin typeface="JetBrains Mono"/>
                        </a:rPr>
                        <a:t>6</a:t>
                      </a:r>
                    </a:p>
                  </a:txBody>
                  <a:tcPr anchor="ctr" marL="109728" marR="109728" marT="45720" marB="45720">
                    <a:solidFill>
                      <a:srgbClr val="F7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A0A0C"/>
                          </a:solidFill>
                          <a:latin typeface="Satoshi"/>
                        </a:rPr>
                        <a:t>[Optional: year-one O&amp;M &amp; performance monitoring]</a:t>
                      </a:r>
                    </a:p>
                  </a:txBody>
                  <a:tcPr anchor="ctr" marL="109728" marR="109728" marT="45720" marB="45720">
                    <a:solidFill>
                      <a:srgbClr val="F7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spc="100">
                          <a:solidFill>
                            <a:srgbClr val="737371"/>
                          </a:solidFill>
                          <a:latin typeface="JetBrains Mono"/>
                        </a:rPr>
                        <a:t>[USD —]</a:t>
                      </a:r>
                    </a:p>
                  </a:txBody>
                  <a:tcPr anchor="ctr" marL="109728" marR="109728" marT="45720" marB="45720">
                    <a:solidFill>
                      <a:srgbClr val="F7F7F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D97725"/>
                          </a:solidFill>
                          <a:latin typeface="JetBrains Mono"/>
                        </a:rPr>
                        <a:t/>
                      </a:r>
                    </a:p>
                  </a:txBody>
                  <a:tcPr anchor="ctr" marL="109728" marR="109728" marT="45720" marB="45720">
                    <a:solidFill>
                      <a:srgbClr val="2B3A2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 spc="150">
                          <a:solidFill>
                            <a:srgbClr val="FFFFFF"/>
                          </a:solidFill>
                          <a:latin typeface="JetBrains Mono"/>
                        </a:rPr>
                        <a:t>SUBTOTAL — SUPPLY &amp; INSTALL (EXCL. VAT)</a:t>
                      </a:r>
                    </a:p>
                  </a:txBody>
                  <a:tcPr anchor="ctr" marL="109728" marR="109728" marT="45720" marB="45720">
                    <a:solidFill>
                      <a:srgbClr val="2B3A2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 spc="100">
                          <a:solidFill>
                            <a:srgbClr val="FFFFFF"/>
                          </a:solidFill>
                          <a:latin typeface="JetBrains Mono"/>
                        </a:rPr>
                        <a:t>[USD —]</a:t>
                      </a:r>
                    </a:p>
                  </a:txBody>
                  <a:tcPr anchor="ctr" marL="109728" marR="109728" marT="45720" marB="45720">
                    <a:solidFill>
                      <a:srgbClr val="2B3A2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D97725"/>
                          </a:solidFill>
                          <a:latin typeface="JetBrains Mono"/>
                        </a:rPr>
                        <a:t/>
                      </a:r>
                    </a:p>
                  </a:txBody>
                  <a:tcPr anchor="ctr" marL="109728" marR="109728" marT="45720" marB="45720">
                    <a:solidFill>
                      <a:srgbClr val="0A0A0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 spc="150">
                          <a:solidFill>
                            <a:srgbClr val="FFFFFF"/>
                          </a:solidFill>
                          <a:latin typeface="JetBrains Mono"/>
                        </a:rPr>
                        <a:t>TOTAL CONTRACT PRICE (INCL. TAXES AS STATED)</a:t>
                      </a:r>
                    </a:p>
                  </a:txBody>
                  <a:tcPr anchor="ctr" marL="109728" marR="109728" marT="45720" marB="45720">
                    <a:solidFill>
                      <a:srgbClr val="0A0A0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 spc="100">
                          <a:solidFill>
                            <a:srgbClr val="D97725"/>
                          </a:solidFill>
                          <a:latin typeface="JetBrains Mono"/>
                        </a:rPr>
                        <a:t>[USD —]</a:t>
                      </a:r>
                    </a:p>
                  </a:txBody>
                  <a:tcPr anchor="ctr" marL="109728" marR="109728" marT="45720" marB="45720">
                    <a:solidFill>
                      <a:srgbClr val="0A0A0C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22960" y="580644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737371"/>
                </a:solidFill>
                <a:latin typeface="Satoshi"/>
              </a:rPr>
              <a:t>Fixed, lump-sum turnkey price. No variation unless physical scope changes. Currency: [USD/KES] · price basis: [DDP site / ex-works + install].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200">
                <a:solidFill>
                  <a:srgbClr val="A6A6A3"/>
                </a:solidFill>
                <a:latin typeface="JetBrains Mono"/>
              </a:rPr>
              <a:t>GJW ENERGY — TECHNO-COMMERCIAL PROPOSAL · GJW-TCO-[YYYY]-[NNN]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09960" y="6419088"/>
            <a:ext cx="320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spc="150">
                <a:solidFill>
                  <a:srgbClr val="D97725"/>
                </a:solidFill>
                <a:latin typeface="JetBrains Mon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350">
                <a:solidFill>
                  <a:srgbClr val="D97725"/>
                </a:solidFill>
                <a:latin typeface="JetBrains Mono"/>
              </a:rPr>
              <a:t>11 — COMMERCIAL TERMS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54577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400" b="1" spc="-10">
                <a:solidFill>
                  <a:srgbClr val="0A0A0C"/>
                </a:solidFill>
                <a:latin typeface="Cabinet Grotesk"/>
              </a:rPr>
              <a:t>CLEAR TERMS. NO SURPRISES.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148840"/>
            <a:ext cx="2377440" cy="19050"/>
          </a:xfrm>
          <a:prstGeom prst="rect">
            <a:avLst/>
          </a:prstGeom>
          <a:solidFill>
            <a:srgbClr val="0A0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spc="-10">
                <a:solidFill>
                  <a:srgbClr val="D97725"/>
                </a:solidFill>
                <a:latin typeface="Cabinet Grotesk"/>
              </a:rPr>
              <a:t>30%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88920"/>
            <a:ext cx="2331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spc="150">
                <a:solidFill>
                  <a:srgbClr val="737371"/>
                </a:solidFill>
                <a:latin typeface="JetBrains Mono"/>
              </a:rPr>
              <a:t>CONTRACT SIGNATURE &amp; MOBILISATION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3547872" y="2148840"/>
            <a:ext cx="2377440" cy="19050"/>
          </a:xfrm>
          <a:prstGeom prst="rect">
            <a:avLst/>
          </a:prstGeom>
          <a:solidFill>
            <a:srgbClr val="0A0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47872" y="2286000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spc="-10">
                <a:solidFill>
                  <a:srgbClr val="D97725"/>
                </a:solidFill>
                <a:latin typeface="Cabinet Grotesk"/>
              </a:rPr>
              <a:t>40%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47872" y="2788920"/>
            <a:ext cx="2331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spc="150">
                <a:solidFill>
                  <a:srgbClr val="737371"/>
                </a:solidFill>
                <a:latin typeface="JetBrains Mono"/>
              </a:rPr>
              <a:t>MAJOR EQUIPMENT DELIVERED TO SITE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72784" y="2148840"/>
            <a:ext cx="2377440" cy="19050"/>
          </a:xfrm>
          <a:prstGeom prst="rect">
            <a:avLst/>
          </a:prstGeom>
          <a:solidFill>
            <a:srgbClr val="0A0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2784" y="2286000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spc="-10">
                <a:solidFill>
                  <a:srgbClr val="D97725"/>
                </a:solidFill>
                <a:latin typeface="Cabinet Grotesk"/>
              </a:rPr>
              <a:t>20%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72784" y="2788920"/>
            <a:ext cx="2331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spc="150">
                <a:solidFill>
                  <a:srgbClr val="737371"/>
                </a:solidFill>
                <a:latin typeface="JetBrains Mono"/>
              </a:rPr>
              <a:t>MECHANICAL COMPLETION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97696" y="2148840"/>
            <a:ext cx="2377440" cy="19050"/>
          </a:xfrm>
          <a:prstGeom prst="rect">
            <a:avLst/>
          </a:prstGeom>
          <a:solidFill>
            <a:srgbClr val="0A0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97696" y="2286000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spc="-10">
                <a:solidFill>
                  <a:srgbClr val="D97725"/>
                </a:solidFill>
                <a:latin typeface="Cabinet Grotesk"/>
              </a:rPr>
              <a:t>10%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97696" y="2788920"/>
            <a:ext cx="2331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spc="150">
                <a:solidFill>
                  <a:srgbClr val="737371"/>
                </a:solidFill>
                <a:latin typeface="JetBrains Mono"/>
              </a:rPr>
              <a:t>COMMISSIONING &amp; ACCEPTANCE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749039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spc="220">
                <a:solidFill>
                  <a:srgbClr val="D97725"/>
                </a:solidFill>
                <a:latin typeface="JetBrains Mono"/>
              </a:rPr>
              <a:t>VALIDITY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1840" y="3721607"/>
            <a:ext cx="8046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0A0A0C"/>
                </a:solidFill>
                <a:latin typeface="Satoshi"/>
              </a:rPr>
              <a:t>This offer remains open for [30] days from the date of issue.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96511"/>
            <a:ext cx="10543032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224527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spc="220">
                <a:solidFill>
                  <a:srgbClr val="D97725"/>
                </a:solidFill>
                <a:latin typeface="JetBrains Mono"/>
              </a:rPr>
              <a:t>WARRANTIES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91840" y="4197095"/>
            <a:ext cx="8046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0A0A0C"/>
                </a:solidFill>
                <a:latin typeface="Satoshi"/>
              </a:rPr>
              <a:t>Modules [12/25] yrs product &amp; performance · inverters [5–10] yrs · workmanship [2] yrs.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4571999"/>
            <a:ext cx="10543032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4700015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spc="220">
                <a:solidFill>
                  <a:srgbClr val="D97725"/>
                </a:solidFill>
                <a:latin typeface="JetBrains Mono"/>
              </a:rPr>
              <a:t>PERFORMANCE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91840" y="4672583"/>
            <a:ext cx="8046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0A0A0C"/>
                </a:solidFill>
                <a:latin typeface="Satoshi"/>
              </a:rPr>
              <a:t>Year-one yield per PVsyst P50 estimate · measured at the generation meter.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5047487"/>
            <a:ext cx="10543032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5175503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spc="220">
                <a:solidFill>
                  <a:srgbClr val="D97725"/>
                </a:solidFill>
                <a:latin typeface="JetBrains Mono"/>
              </a:rPr>
              <a:t>EXCLUSIONS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91840" y="5148071"/>
            <a:ext cx="8046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0A0A0C"/>
                </a:solidFill>
                <a:latin typeface="Satoshi"/>
              </a:rPr>
              <a:t>Utility connection fees · grid reinforcement · unforeseen civils · VAT unless stated.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2960" y="5522975"/>
            <a:ext cx="10543032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5650991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spc="220">
                <a:solidFill>
                  <a:srgbClr val="D97725"/>
                </a:solidFill>
                <a:latin typeface="JetBrains Mono"/>
              </a:rPr>
              <a:t>GOVERNING TERMS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91840" y="5623559"/>
            <a:ext cx="8046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0A0A0C"/>
                </a:solidFill>
                <a:latin typeface="Satoshi"/>
              </a:rPr>
              <a:t>[FIDIC-based / client contract] · Kenyan law · amicable resolution then arbitration.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5998463"/>
            <a:ext cx="10543032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200">
                <a:solidFill>
                  <a:srgbClr val="A6A6A3"/>
                </a:solidFill>
                <a:latin typeface="JetBrains Mono"/>
              </a:rPr>
              <a:t>GJW ENERGY — TECHNO-COMMERCIAL PROPOSAL · GJW-TCO-[YYYY]-[NNN]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09960" y="6419088"/>
            <a:ext cx="320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spc="150">
                <a:solidFill>
                  <a:srgbClr val="D97725"/>
                </a:solidFill>
                <a:latin typeface="JetBrains Mon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350">
                <a:solidFill>
                  <a:srgbClr val="D97725"/>
                </a:solidFill>
                <a:latin typeface="JetBrains Mono"/>
              </a:rPr>
              <a:t>12 — OPTIONAL · ANNUAL O&amp;M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54577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000" b="1" spc="-10">
                <a:solidFill>
                  <a:srgbClr val="0A0A0C"/>
                </a:solidFill>
                <a:latin typeface="Cabinet Grotesk"/>
              </a:rPr>
              <a:t>BUILT PROPERLY. KEPT PERFORMING.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01168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250">
                <a:solidFill>
                  <a:srgbClr val="D97725"/>
                </a:solidFill>
                <a:latin typeface="JetBrains Mono"/>
              </a:rPr>
              <a:t>INCLUDED IN THE ANNUAL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37744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97725"/>
                </a:solidFill>
                <a:latin typeface="JetBrains Mono"/>
              </a:rPr>
              <a:t>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386584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0A0A0C"/>
                </a:solidFill>
                <a:latin typeface="Satoshi"/>
              </a:rPr>
              <a:t>Scheduled preventive maintenance — [2] visits / year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2752344"/>
            <a:ext cx="5394960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889504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97725"/>
                </a:solidFill>
                <a:latin typeface="JetBrains Mono"/>
              </a:rP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898648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0A0A0C"/>
                </a:solidFill>
                <a:latin typeface="Satoshi"/>
              </a:rPr>
              <a:t>Module cleaning — [N] cycles / year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3264408"/>
            <a:ext cx="5394960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401568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97725"/>
                </a:solidFill>
                <a:latin typeface="JetBrains Mono"/>
              </a:rPr>
              <a:t>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410712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0A0A0C"/>
                </a:solidFill>
                <a:latin typeface="Satoshi"/>
              </a:rPr>
              <a:t>24/7 remote monitoring &amp; monthly performance report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776472"/>
            <a:ext cx="5394960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913632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97725"/>
                </a:solidFill>
                <a:latin typeface="JetBrains Mono"/>
              </a:rPr>
              <a:t>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3922776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0A0A0C"/>
                </a:solidFill>
                <a:latin typeface="Satoshi"/>
              </a:rPr>
              <a:t>Breakdown response within [48] hours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4288536"/>
            <a:ext cx="5394960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4425696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97725"/>
                </a:solidFill>
                <a:latin typeface="JetBrains Mono"/>
              </a:rPr>
              <a:t>+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4434840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0A0A0C"/>
                </a:solidFill>
                <a:latin typeface="Satoshi"/>
              </a:rPr>
              <a:t>Spare-parts management &amp; warranty administration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4800600"/>
            <a:ext cx="5394960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493776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97725"/>
                </a:solidFill>
                <a:latin typeface="JetBrains Mono"/>
              </a:rPr>
              <a:t>+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4946904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0A0A0C"/>
                </a:solidFill>
                <a:latin typeface="Satoshi"/>
              </a:rPr>
              <a:t>Annual performance review against the P50 yield estimate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5312664"/>
            <a:ext cx="5394960" cy="9525"/>
          </a:xfrm>
          <a:prstGeom prst="rect">
            <a:avLst/>
          </a:prstGeom>
          <a:solidFill>
            <a:srgbClr val="E3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949440" y="2011680"/>
            <a:ext cx="4416552" cy="3429000"/>
          </a:xfrm>
          <a:prstGeom prst="rect">
            <a:avLst/>
          </a:prstGeom>
          <a:solidFill>
            <a:srgbClr val="0A0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69480" y="2286000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spc="300">
                <a:solidFill>
                  <a:srgbClr val="D97725"/>
                </a:solidFill>
                <a:latin typeface="JetBrains Mono"/>
              </a:rPr>
              <a:t>ANNUAL O&amp;M PLAN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69480" y="2651760"/>
            <a:ext cx="3840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spc="-10">
                <a:solidFill>
                  <a:srgbClr val="FFFFFF"/>
                </a:solidFill>
                <a:latin typeface="Cabinet Grotesk"/>
              </a:rPr>
              <a:t>[USD —] </a:t>
            </a:r>
            <a:r>
              <a:rPr sz="1100" b="1" spc="150">
                <a:solidFill>
                  <a:srgbClr val="8C8C8C"/>
                </a:solidFill>
                <a:latin typeface="JetBrains Mono"/>
              </a:rPr>
              <a:t>/ YEAR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69480" y="3291840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50">
                <a:solidFill>
                  <a:srgbClr val="8C8C8C"/>
                </a:solidFill>
                <a:latin typeface="JetBrains Mono"/>
              </a:rPr>
              <a:t>OR [USD —] PER kWp PER YEAR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269480" y="3749039"/>
            <a:ext cx="3776472" cy="9525"/>
          </a:xfrm>
          <a:prstGeom prst="rect">
            <a:avLst/>
          </a:prstGeom>
          <a:solidFill>
            <a:srgbClr val="5A5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69480" y="3931920"/>
            <a:ext cx="38404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1" spc="250">
                <a:solidFill>
                  <a:srgbClr val="D97725"/>
                </a:solidFill>
                <a:latin typeface="JetBrains Mono"/>
              </a:rPr>
              <a:t>ADD-ONS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FFFFFF"/>
                </a:solidFill>
                <a:latin typeface="Satoshi"/>
              </a:rPr>
              <a:t>Extended warranty wrap — [OPT]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FFFFFF"/>
                </a:solidFill>
                <a:latin typeface="Satoshi"/>
              </a:rPr>
              <a:t>Additional cleaning cycles — [OPT]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FFFFFF"/>
                </a:solidFill>
                <a:latin typeface="Satoshi"/>
              </a:rPr>
              <a:t>Security &amp; guarding — [OPT]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580644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0A0A0C"/>
                </a:solidFill>
                <a:latin typeface="Satoshi"/>
              </a:rPr>
              <a:t>O&amp;M clients hold priority breakdown response. Systems we maintain carry our name — we keep them performing.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200">
                <a:solidFill>
                  <a:srgbClr val="A6A6A3"/>
                </a:solidFill>
                <a:latin typeface="JetBrains Mono"/>
              </a:rPr>
              <a:t>GJW ENERGY — TECHNO-COMMERCIAL PROPOSAL · GJW-TCO-[YYYY]-[NNN]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09960" y="6419088"/>
            <a:ext cx="320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spc="150">
                <a:solidFill>
                  <a:srgbClr val="D97725"/>
                </a:solidFill>
                <a:latin typeface="JetBrains Mon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lose-shaded.jpg"/>
          <p:cNvPicPr>
            <a:picLocks noChangeAspect="1"/>
          </p:cNvPicPr>
          <p:nvPr/>
        </p:nvPicPr>
        <p:blipFill>
          <a:blip r:embed="rId2"/>
          <a:srcRect t="12499" b="12499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822960" y="822960"/>
            <a:ext cx="502920" cy="27940"/>
          </a:xfrm>
          <a:prstGeom prst="rect">
            <a:avLst/>
          </a:prstGeom>
          <a:solidFill>
            <a:srgbClr val="D977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spc="60">
                <a:solidFill>
                  <a:srgbClr val="FFFFFF"/>
                </a:solidFill>
                <a:latin typeface="Cabinet Grotesk"/>
              </a:rPr>
              <a:t>GJW </a:t>
            </a:r>
            <a:r>
              <a:rPr sz="1600" b="0" spc="60">
                <a:solidFill>
                  <a:srgbClr val="8C8C8C"/>
                </a:solidFill>
                <a:latin typeface="Cabinet Grotesk"/>
              </a:rPr>
              <a:t>ENERGY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350">
                <a:solidFill>
                  <a:srgbClr val="D97725"/>
                </a:solidFill>
                <a:latin typeface="JetBrains Mono"/>
              </a:rPr>
              <a:t>NEXT STEPS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88920"/>
            <a:ext cx="105156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4400" b="1" spc="-10">
                <a:solidFill>
                  <a:srgbClr val="FFFFFF"/>
                </a:solidFill>
                <a:latin typeface="Cabinet Grotesk"/>
              </a:rPr>
              <a:t>Your sector. Your site.</a:t>
            </a:r>
          </a:p>
          <a:p>
            <a:pPr algn="l">
              <a:lnSpc>
                <a:spcPct val="102000"/>
              </a:lnSpc>
            </a:pPr>
            <a:r>
              <a:rPr sz="4400" b="1" spc="-10">
                <a:solidFill>
                  <a:srgbClr val="D97725"/>
                </a:solidFill>
                <a:latin typeface="Cabinet Grotesk"/>
              </a:rPr>
              <a:t>Built properly, once.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6634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00">
                <a:solidFill>
                  <a:srgbClr val="D97725"/>
                </a:solidFill>
                <a:latin typeface="JetBrains Mono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4663440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FFFFF"/>
                </a:solidFill>
                <a:latin typeface="Satoshi"/>
              </a:rPr>
              <a:t>Site visit &amp; data confirmation — [week of ___]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0749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00">
                <a:solidFill>
                  <a:srgbClr val="D97725"/>
                </a:solidFill>
                <a:latin typeface="JetBrains Mono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5074920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FFFFF"/>
                </a:solidFill>
                <a:latin typeface="Satoshi"/>
              </a:rPr>
              <a:t>Final BOQ &amp; contract signature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48640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00">
                <a:solidFill>
                  <a:srgbClr val="D97725"/>
                </a:solidFill>
                <a:latin typeface="JetBrains Mono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5486400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FFFFF"/>
                </a:solidFill>
                <a:latin typeface="Satoshi"/>
              </a:rPr>
              <a:t>Mobilisation within [2] weeks of signature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0" y="4663440"/>
            <a:ext cx="3566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050" b="1" spc="150">
                <a:solidFill>
                  <a:srgbClr val="FFFFFF"/>
                </a:solidFill>
                <a:latin typeface="JetBrains Mono"/>
              </a:rPr>
              <a:t>INFO@GJWENERGY.CO.KE</a:t>
            </a:r>
          </a:p>
          <a:p>
            <a:pPr algn="l">
              <a:lnSpc>
                <a:spcPct val="160000"/>
              </a:lnSpc>
            </a:pPr>
            <a:r>
              <a:rPr sz="1050" b="0" spc="150">
                <a:solidFill>
                  <a:srgbClr val="FFFFFF"/>
                </a:solidFill>
                <a:latin typeface="JetBrains Mono"/>
              </a:rPr>
              <a:t>+254 722 660 630</a:t>
            </a:r>
          </a:p>
          <a:p>
            <a:pPr algn="l">
              <a:lnSpc>
                <a:spcPct val="160000"/>
              </a:lnSpc>
            </a:pPr>
            <a:r>
              <a:rPr sz="1050" b="0" spc="150">
                <a:solidFill>
                  <a:srgbClr val="8C8C8C"/>
                </a:solidFill>
                <a:latin typeface="JetBrains Mono"/>
              </a:rPr>
              <a:t>NAIROBI, KENYA</a:t>
            </a:r>
          </a:p>
          <a:p>
            <a:pPr algn="l">
              <a:lnSpc>
                <a:spcPct val="160000"/>
              </a:lnSpc>
            </a:pPr>
            <a:r>
              <a:rPr sz="1050" b="1" spc="150">
                <a:solidFill>
                  <a:srgbClr val="D97725"/>
                </a:solidFill>
                <a:latin typeface="JetBrains Mono"/>
              </a:rPr>
              <a:t>GJWENERGY.CO.KE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200">
                <a:solidFill>
                  <a:srgbClr val="8C8C8C"/>
                </a:solidFill>
                <a:latin typeface="JetBrains Mono"/>
              </a:rPr>
              <a:t>GJW ENERGY — TECHNO-COMMERCIAL PROPOSAL · GJW-TCO-[YYYY]-[NNN]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09960" y="6419088"/>
            <a:ext cx="320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spc="150">
                <a:solidFill>
                  <a:srgbClr val="D97725"/>
                </a:solidFill>
                <a:latin typeface="JetBrains Mono"/>
              </a:rPr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