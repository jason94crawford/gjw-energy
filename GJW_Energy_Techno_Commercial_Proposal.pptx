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502920" cy="27940"/>
          </a:xfrm>
          <a:prstGeom prst="rect">
            <a:avLst/>
          </a:prstGeom>
          <a:solidFill>
            <a:srgbClr val="D9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spc="60">
                <a:solidFill>
                  <a:srgbClr val="FFFFFF"/>
                </a:solidFill>
                <a:latin typeface="Cabinet Grotesk"/>
              </a:rPr>
              <a:t>GJW </a:t>
            </a:r>
            <a:r>
              <a:rPr sz="1600" b="0" spc="60">
                <a:solidFill>
                  <a:srgbClr val="8C8C8C"/>
                </a:solidFill>
                <a:latin typeface="Cabinet Grotesk"/>
              </a:rPr>
              <a:t>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350">
                <a:solidFill>
                  <a:srgbClr val="D97725"/>
                </a:solidFill>
                <a:latin typeface="JetBrains Mono"/>
              </a:rPr>
              <a:t>TECHNO-COMMERCIAL PROPOSAL · GJW-TCO-[YYYY]-[NNN]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spc="-10">
                <a:solidFill>
                  <a:srgbClr val="FFFFFF"/>
                </a:solidFill>
                <a:latin typeface="Cabinet Grotesk"/>
              </a:rPr>
              <a:t>[SOLAR PV + BESS PLANT]</a:t>
            </a:r>
          </a:p>
          <a:p>
            <a:pPr algn="l">
              <a:lnSpc>
                <a:spcPct val="105000"/>
              </a:lnSpc>
            </a:pPr>
            <a:r>
              <a:rPr sz="2000" b="0" spc="20">
                <a:solidFill>
                  <a:srgbClr val="8C8C8C"/>
                </a:solidFill>
                <a:latin typeface="Cabinet Grotesk"/>
              </a:rPr>
              <a:t>[CAPACITY] kWp / [kWh] — [SITE NAME], [COUNTRY]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394960"/>
            <a:ext cx="10543032" cy="9525"/>
          </a:xfrm>
          <a:prstGeom prst="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250">
                <a:solidFill>
                  <a:srgbClr val="D97725"/>
                </a:solidFill>
                <a:latin typeface="JetBrains Mono"/>
              </a:rPr>
              <a:t>PREPARED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704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Satoshi"/>
              </a:rPr>
              <a:t>[CLIENT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5623560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250">
                <a:solidFill>
                  <a:srgbClr val="D97725"/>
                </a:solidFill>
                <a:latin typeface="JetBrains Mono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58704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Satoshi"/>
              </a:rPr>
              <a:t>GJW ENERGY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5623560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250">
                <a:solidFill>
                  <a:srgbClr val="D97725"/>
                </a:solidFill>
                <a:latin typeface="JetBrains Mono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58704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Satoshi"/>
              </a:rPr>
              <a:t>[DD MONTH YYYY]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5623560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250">
                <a:solidFill>
                  <a:srgbClr val="D97725"/>
                </a:solidFill>
                <a:latin typeface="JetBrains Mono"/>
              </a:rPr>
              <a:t>VALIDITY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58704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Satoshi"/>
              </a:rPr>
              <a:t>[30]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50">
                <a:solidFill>
                  <a:srgbClr val="8C8C8C"/>
                </a:solidFill>
                <a:latin typeface="JetBrains Mono"/>
              </a:rPr>
              <a:t>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50">
                <a:solidFill>
                  <a:srgbClr val="D97725"/>
                </a:solidFill>
                <a:latin typeface="JetBrains Mono"/>
              </a:rPr>
              <a:t>01 — 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0">
                <a:solidFill>
                  <a:srgbClr val="0A0A0C"/>
                </a:solidFill>
                <a:latin typeface="Cabinet Grotesk"/>
              </a:rPr>
              <a:t>PRINCIPAL-LED. ENGINEER-FIRST.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737371"/>
                </a:solidFill>
                <a:latin typeface="Satoshi"/>
              </a:rPr>
              <a:t>GJW Energy is a Kenyan engineering and EPC company delivering solar PV, battery storage and grid-integration projects across East Africa. Technical governance on every project is anchored directly by the company's technical leadership — the people who design your system are the people accountable for delivering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737371"/>
                </a:solidFill>
                <a:latin typeface="Satoshi"/>
              </a:rPr>
              <a:t>Mandate across Kenya, Tanzania, Uganda, Somalia and Somaliland — EPC, construction, design and technical advisory for industrial, agricultural, hospitality, healthcare and mixed-use clients.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10">
                <a:solidFill>
                  <a:srgbClr val="D97725"/>
                </a:solidFill>
                <a:latin typeface="Cabinet Grotesk"/>
              </a:rPr>
              <a:t>20+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83664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80">
                <a:solidFill>
                  <a:srgbClr val="737371"/>
                </a:solidFill>
                <a:latin typeface="JetBrains Mono"/>
              </a:rPr>
              <a:t>MWp engineering &amp;</a:t>
            </a:r>
          </a:p>
          <a:p>
            <a:pPr algn="l">
              <a:lnSpc>
                <a:spcPct val="120000"/>
              </a:lnSpc>
            </a:pPr>
            <a:r>
              <a:rPr sz="950" b="0" spc="80">
                <a:solidFill>
                  <a:srgbClr val="737371"/>
                </a:solidFill>
                <a:latin typeface="JetBrains Mono"/>
              </a:rPr>
              <a:t>delivery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724912"/>
            <a:ext cx="3977639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907792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10">
                <a:solidFill>
                  <a:srgbClr val="D97725"/>
                </a:solidFill>
                <a:latin typeface="Cabinet Grotesk"/>
              </a:rPr>
              <a:t>10+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962656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80">
                <a:solidFill>
                  <a:srgbClr val="737371"/>
                </a:solidFill>
                <a:latin typeface="JetBrains Mono"/>
              </a:rPr>
              <a:t>MWh storage</a:t>
            </a:r>
          </a:p>
          <a:p>
            <a:pPr algn="l">
              <a:lnSpc>
                <a:spcPct val="120000"/>
              </a:lnSpc>
            </a:pPr>
            <a:r>
              <a:rPr sz="950" b="0" spc="80">
                <a:solidFill>
                  <a:srgbClr val="737371"/>
                </a:solidFill>
                <a:latin typeface="JetBrains Mono"/>
              </a:rPr>
              <a:t>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3803904"/>
            <a:ext cx="3977639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986784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10">
                <a:solidFill>
                  <a:srgbClr val="D97725"/>
                </a:solidFill>
                <a:latin typeface="Cabinet Grotesk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041648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80">
                <a:solidFill>
                  <a:srgbClr val="737371"/>
                </a:solidFill>
                <a:latin typeface="JetBrains Mono"/>
              </a:rPr>
              <a:t>territories — regional</a:t>
            </a:r>
          </a:p>
          <a:p>
            <a:pPr algn="l">
              <a:lnSpc>
                <a:spcPct val="120000"/>
              </a:lnSpc>
            </a:pPr>
            <a:r>
              <a:rPr sz="950" b="0" spc="80">
                <a:solidFill>
                  <a:srgbClr val="737371"/>
                </a:solidFill>
                <a:latin typeface="JetBrains Mono"/>
              </a:rPr>
              <a:t>delivery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882896"/>
            <a:ext cx="3977639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5065776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10">
                <a:solidFill>
                  <a:srgbClr val="D97725"/>
                </a:solidFill>
                <a:latin typeface="Cabinet Grotesk"/>
              </a:rPr>
              <a:t>20+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1206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80">
                <a:solidFill>
                  <a:srgbClr val="737371"/>
                </a:solidFill>
                <a:latin typeface="JetBrains Mono"/>
              </a:rPr>
              <a:t>years combined team</a:t>
            </a:r>
          </a:p>
          <a:p>
            <a:pPr algn="l">
              <a:lnSpc>
                <a:spcPct val="120000"/>
              </a:lnSpc>
            </a:pPr>
            <a:r>
              <a:rPr sz="950" b="0" spc="80">
                <a:solidFill>
                  <a:srgbClr val="737371"/>
                </a:solidFill>
                <a:latin typeface="JetBrains Mono"/>
              </a:rPr>
              <a:t>experience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74920"/>
            <a:ext cx="6035040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250">
                <a:solidFill>
                  <a:srgbClr val="D97725"/>
                </a:solidFill>
                <a:latin typeface="JetBrains Mono"/>
              </a:rPr>
              <a:t>WHAT THIS MEANS FOR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A0A0C"/>
                </a:solidFill>
                <a:latin typeface="Satoshi"/>
              </a:rPr>
              <a:t>One accountable engineering lead from first site visit to final acceptance testing. No hand-offs, no brokering — design intent survives construction.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00">
                <a:solidFill>
                  <a:srgbClr val="A6A6A3"/>
                </a:solidFill>
                <a:latin typeface="JetBrains Mono"/>
              </a:rPr>
              <a:t>GJW ENERGY — TECHNO-COMMERCIAL PROPOSAL · GJW-TCO-[YYYY]-[NNN]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19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D97725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50">
                <a:solidFill>
                  <a:srgbClr val="D97725"/>
                </a:solidFill>
                <a:latin typeface="JetBrains Mono"/>
              </a:rPr>
              <a:t>02 — YOUR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0">
                <a:solidFill>
                  <a:srgbClr val="0A0A0C"/>
                </a:solidFill>
                <a:latin typeface="Cabinet Grotesk"/>
              </a:rPr>
              <a:t>THE BRIEF, AS WE UNDERSTAND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984248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A0A0C"/>
                </a:solidFill>
                <a:latin typeface="Satoshi"/>
              </a:rPr>
              <a:t>[CLIENT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14016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51176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A0A0C"/>
                </a:solidFill>
                <a:latin typeface="Satoshi"/>
              </a:rPr>
              <a:t>[SITE / FACILITY], [TOWN], [COUNTRY]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80944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455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118104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A0A0C"/>
                </a:solidFill>
                <a:latin typeface="Satoshi"/>
              </a:rPr>
              <a:t>[Reduce grid energy costs / secure supply / displace diesel]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47872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124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LOAD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85032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A0A0C"/>
                </a:solidFill>
                <a:latin typeface="Satoshi"/>
              </a:rPr>
              <a:t>[Daytime baseload ±XXX kW · peak XXX kVA · XX,XXX kWh/month]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14800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793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SUPPLY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5196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A0A0C"/>
                </a:solidFill>
                <a:latin typeface="Satoshi"/>
              </a:rPr>
              <a:t>[Utility grid — utility tariff / outage profile / genset backup]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681728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818888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A0A0C"/>
                </a:solidFill>
                <a:latin typeface="Satoshi"/>
              </a:rPr>
              <a:t>[Roof or land availability · outage windows · interconnection limits]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248656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37371"/>
                </a:solidFill>
                <a:latin typeface="Satoshi"/>
              </a:rPr>
              <a:t>Source: [site visit dated ___ / client data pack / utility bills for ___ months]. Any assumption stated here is confirmed during detailed design and does not alter the fixed price unless the physical scope changes.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00">
                <a:solidFill>
                  <a:srgbClr val="A6A6A3"/>
                </a:solidFill>
                <a:latin typeface="JetBrains Mono"/>
              </a:rPr>
              <a:t>GJW ENERGY — TECHNO-COMMERCIAL PROPOSAL · GJW-TCO-[YYYY]-[NNN]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19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D97725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50">
                <a:solidFill>
                  <a:srgbClr val="D97725"/>
                </a:solidFill>
                <a:latin typeface="JetBrains Mono"/>
              </a:rPr>
              <a:t>03 — TECHNICAL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0">
                <a:solidFill>
                  <a:srgbClr val="0A0A0C"/>
                </a:solidFill>
                <a:latin typeface="Cabinet Grotesk"/>
              </a:rPr>
              <a:t>PROPOSED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D97725"/>
                </a:solidFill>
                <a:latin typeface="JetBrains Mono"/>
              </a:rPr>
              <a:t>SYSTEM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93852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0A0C"/>
                </a:solidFill>
                <a:latin typeface="Satoshi"/>
              </a:rPr>
              <a:t>[XXX] kWp DC / [XXX] kW AC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13432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4144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D97725"/>
                </a:solidFill>
                <a:latin typeface="JetBrains Mono"/>
              </a:rPr>
              <a:t>PV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14016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0A0C"/>
                </a:solidFill>
                <a:latin typeface="Satoshi"/>
              </a:rPr>
              <a:t>[N × XXX Wp Tier-1 mono / n-type · make per final BOQ]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1693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D97725"/>
                </a:solidFill>
                <a:latin typeface="JetBrains Mono"/>
              </a:rPr>
              <a:t>INVERTERS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89504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0A0C"/>
                </a:solidFill>
                <a:latin typeface="Satoshi"/>
              </a:rPr>
              <a:t>[N × XXX kW string inverters · make per final BOQ]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64408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9242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D97725"/>
                </a:solidFill>
                <a:latin typeface="JetBrains Mono"/>
              </a:rPr>
              <a:t>STORAGE (OPTION)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364992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0A0C"/>
                </a:solidFill>
                <a:latin typeface="Satoshi"/>
              </a:rPr>
              <a:t>[XXX kWh LFP BESS · hybrid inverter / PCS]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39896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6791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D97725"/>
                </a:solidFill>
                <a:latin typeface="JetBrains Mono"/>
              </a:rPr>
              <a:t>GRID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4048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0A0C"/>
                </a:solidFill>
                <a:latin typeface="Satoshi"/>
              </a:rPr>
              <a:t>[Grid-tied / grid-stabilising · protection &amp; synchronisation per utility]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215384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D97725"/>
                </a:solidFill>
                <a:latin typeface="JetBrains Mono"/>
              </a:rPr>
              <a:t>MOUNTING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31596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0A0C"/>
                </a:solidFill>
                <a:latin typeface="Satoshi"/>
              </a:rPr>
              <a:t>[Roof / ground-mounted · hot-dip galvanised structure]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690872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188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D97725"/>
                </a:solidFill>
                <a:latin typeface="JetBrains Mono"/>
              </a:rP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791456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0A0C"/>
                </a:solidFill>
                <a:latin typeface="Satoshi"/>
              </a:rPr>
              <a:t>[String-level monitoring · remote portal · generation meter]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166360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29437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D97725"/>
                </a:solidFill>
                <a:latin typeface="JetBrains Mono"/>
              </a:rPr>
              <a:t>EST. YIELD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66944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0A0C"/>
                </a:solidFill>
                <a:latin typeface="Satoshi"/>
              </a:rPr>
              <a:t>[X,XXX MWh in year one · PR ≥ XX%]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641848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97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37371"/>
                </a:solidFill>
                <a:latin typeface="Satoshi"/>
              </a:rPr>
              <a:t>Engineering basis: PVsyst simulation, utility interconnection study and structural verification precede construction. All equipment is Tier-1 with manufacturer warranties registered to the client.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00">
                <a:solidFill>
                  <a:srgbClr val="A6A6A3"/>
                </a:solidFill>
                <a:latin typeface="JetBrains Mono"/>
              </a:rPr>
              <a:t>GJW ENERGY — TECHNO-COMMERCIAL PROPOSAL · GJW-TCO-[YYYY]-[NNN]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19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D97725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50">
                <a:solidFill>
                  <a:srgbClr val="D97725"/>
                </a:solidFill>
                <a:latin typeface="JetBrains Mono"/>
              </a:rPr>
              <a:t>04 — SCOPE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0">
                <a:solidFill>
                  <a:srgbClr val="0A0A0C"/>
                </a:solidFill>
                <a:latin typeface="Cabinet Grotesk"/>
              </a:rPr>
              <a:t>ONE CONTRACT. FULL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D97725"/>
                </a:solidFill>
                <a:latin typeface="JetBrains Mono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7568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spc="40">
                <a:solidFill>
                  <a:srgbClr val="0A0A0C"/>
                </a:solidFill>
                <a:latin typeface="Cabinet Grotesk"/>
              </a:rPr>
              <a:t>ENGINEERING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075688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37371"/>
                </a:solidFill>
                <a:latin typeface="Satoshi"/>
              </a:rPr>
              <a:t>Site survey &amp; yield assessment · PVsyst design · single-line diagrams · structural checks · utility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24912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D97725"/>
                </a:solidFill>
                <a:latin typeface="JetBrains Mono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443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spc="40">
                <a:solidFill>
                  <a:srgbClr val="0A0A0C"/>
                </a:solidFill>
                <a:latin typeface="Cabinet Grotesk"/>
              </a:rPr>
              <a:t>PROCUREMENT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944368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37371"/>
                </a:solidFill>
                <a:latin typeface="Satoshi"/>
              </a:rPr>
              <a:t>Tier-1 equipment sourcing · factory inspections · logistics &amp; customs · materials received &amp; stored to 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593592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D97725"/>
                </a:solidFill>
                <a:latin typeface="JetBrains Mono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1304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spc="40">
                <a:solidFill>
                  <a:srgbClr val="0A0A0C"/>
                </a:solidFill>
                <a:latin typeface="Cabinet Grotesk"/>
              </a:rPr>
              <a:t>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813048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37371"/>
                </a:solidFill>
                <a:latin typeface="Satoshi"/>
              </a:rPr>
              <a:t>Civil &amp; structural works · mechanical &amp; electrical installation · grid interconnection · HSE-managed site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62272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D97725"/>
                </a:solidFill>
                <a:latin typeface="JetBrains Mono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8172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spc="40">
                <a:solidFill>
                  <a:srgbClr val="0A0A0C"/>
                </a:solidFill>
                <a:latin typeface="Cabinet Grotesk"/>
              </a:rPr>
              <a:t>COMMISSIONING &amp; HANDOVER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681728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37371"/>
                </a:solidFill>
                <a:latin typeface="Satoshi"/>
              </a:rPr>
              <a:t>Testing &amp; commissioning · acceptance tests with client · as-built dossier · operator training · O&amp;M handover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30952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37371"/>
                </a:solidFill>
                <a:latin typeface="Satoshi"/>
              </a:rPr>
              <a:t>Exclusions: [utility connection fees · grid reinforcement · civils beyond agreed platform · VAT as stated].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00">
                <a:solidFill>
                  <a:srgbClr val="A6A6A3"/>
                </a:solidFill>
                <a:latin typeface="JetBrains Mono"/>
              </a:rPr>
              <a:t>GJW ENERGY — TECHNO-COMMERCIAL PROPOSAL · GJW-TCO-[YYYY]-[NNN]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19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D97725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50">
                <a:solidFill>
                  <a:srgbClr val="D97725"/>
                </a:solidFill>
                <a:latin typeface="JetBrains Mono"/>
              </a:rPr>
              <a:t>05 — DELIVERY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0">
                <a:solidFill>
                  <a:srgbClr val="0A0A0C"/>
                </a:solidFill>
                <a:latin typeface="Cabinet Grotesk"/>
              </a:rPr>
              <a:t>BUILT AT UTILITY SCALE AND SPEED.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303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949440"/>
                <a:gridCol w="258775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950" b="1" spc="250">
                          <a:solidFill>
                            <a:srgbClr val="D97725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L="109728" marR="109728" marT="45720" marB="45720">
                    <a:solidFill>
                      <a:srgbClr val="0A0A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spc="250">
                          <a:solidFill>
                            <a:srgbClr val="D97725"/>
                          </a:solidFill>
                          <a:latin typeface="JetBrains Mono"/>
                        </a:rPr>
                        <a:t>PHASE</a:t>
                      </a:r>
                    </a:p>
                  </a:txBody>
                  <a:tcPr anchor="ctr" marL="109728" marR="109728" marT="45720" marB="45720">
                    <a:solidFill>
                      <a:srgbClr val="0A0A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spc="250">
                          <a:solidFill>
                            <a:srgbClr val="D97725"/>
                          </a:solidFill>
                          <a:latin typeface="JetBrains Mono"/>
                        </a:rPr>
                        <a:t>TIMELINE</a:t>
                      </a:r>
                    </a:p>
                  </a:txBody>
                  <a:tcPr anchor="ctr" marL="109728" marR="109728" marT="45720" marB="45720">
                    <a:solidFill>
                      <a:srgbClr val="0A0A0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01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A0A0C"/>
                          </a:solidFill>
                          <a:latin typeface="Satoshi"/>
                        </a:rPr>
                        <a:t>Contract &amp; mobilisation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[WKS 1–2]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02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A0A0C"/>
                          </a:solidFill>
                          <a:latin typeface="Satoshi"/>
                        </a:rPr>
                        <a:t>Detailed design &amp; utility approvals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[WKS 2–5]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03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A0A0C"/>
                          </a:solidFill>
                          <a:latin typeface="Satoshi"/>
                        </a:rPr>
                        <a:t>Procurement &amp; logistics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[WKS 4–10]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04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A0A0C"/>
                          </a:solidFill>
                          <a:latin typeface="Satoshi"/>
                        </a:rPr>
                        <a:t>Construction &amp; installation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[WKS 8–16]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05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A0A0C"/>
                          </a:solidFill>
                          <a:latin typeface="Satoshi"/>
                        </a:rPr>
                        <a:t>Testing, commissioning &amp; handover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[WKS 16–18]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715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37371"/>
                </a:solidFill>
                <a:latin typeface="Satoshi"/>
              </a:rPr>
              <a:t>Programme assumes timely utility approvals and site access. A week-by-week schedule is issued at contract signature and tracked to completion.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00">
                <a:solidFill>
                  <a:srgbClr val="A6A6A3"/>
                </a:solidFill>
                <a:latin typeface="JetBrains Mono"/>
              </a:rPr>
              <a:t>GJW ENERGY — TECHNO-COMMERCIAL PROPOSAL · GJW-TCO-[YYYY]-[NNN]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19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D97725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50">
                <a:solidFill>
                  <a:srgbClr val="D97725"/>
                </a:solidFill>
                <a:latin typeface="JetBrains Mono"/>
              </a:rPr>
              <a:t>06 — PROOF, NOT PROMISES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0">
                <a:solidFill>
                  <a:srgbClr val="FFFFFF"/>
                </a:solidFill>
                <a:latin typeface="Cabinet Grotesk"/>
              </a:rPr>
              <a:t>DELIVERED BY THIS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40">
                <a:solidFill>
                  <a:srgbClr val="FFFFFF"/>
                </a:solidFill>
                <a:latin typeface="Cabinet Grotesk"/>
              </a:rPr>
              <a:t>TATA CHEMICALS · MAGADI, KENYA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8C8C8C"/>
                </a:solidFill>
                <a:latin typeface="JetBrains Mono"/>
              </a:rPr>
              <a:t>5.1 MWp on-grid solar · grid stabilisation · D&amp;T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88336"/>
            <a:ext cx="6035040" cy="9525"/>
          </a:xfrm>
          <a:prstGeom prst="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6207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40">
                <a:solidFill>
                  <a:srgbClr val="FFFFFF"/>
                </a:solidFill>
                <a:latin typeface="Cabinet Grotesk"/>
              </a:rPr>
              <a:t>DEVKI GROUP PORTFOLIO · KENYA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8C8C8C"/>
                </a:solidFill>
                <a:latin typeface="JetBrains Mono"/>
              </a:rPr>
              <a:t>3.8 MWp rooftop across 4 manufacturing sites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47288"/>
            <a:ext cx="6035040" cy="9525"/>
          </a:xfrm>
          <a:prstGeom prst="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21024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40">
                <a:solidFill>
                  <a:srgbClr val="FFFFFF"/>
                </a:solidFill>
                <a:latin typeface="Cabinet Grotesk"/>
              </a:rPr>
              <a:t>TATU CITY SEZ · KENYA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1363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8C8C8C"/>
                </a:solidFill>
                <a:latin typeface="JetBrains Mono"/>
              </a:rPr>
              <a:t>2.05 MW rooftop · 3,468 modules · mixed-use 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06240"/>
            <a:ext cx="6035040" cy="9525"/>
          </a:xfrm>
          <a:prstGeom prst="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79976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40">
                <a:solidFill>
                  <a:srgbClr val="FFFFFF"/>
                </a:solidFill>
                <a:latin typeface="Cabinet Grotesk"/>
              </a:rPr>
              <a:t>SAJ CERAMICS · KENYA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72584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8C8C8C"/>
                </a:solidFill>
                <a:latin typeface="JetBrains Mono"/>
              </a:rPr>
              <a:t>693 kWp rooftop + genset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65192"/>
            <a:ext cx="6035040" cy="9525"/>
          </a:xfrm>
          <a:prstGeom prst="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3892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40">
                <a:solidFill>
                  <a:srgbClr val="FFFFFF"/>
                </a:solidFill>
                <a:latin typeface="Cabinet Grotesk"/>
              </a:rPr>
              <a:t>KINONDO KWETU · DIANI, KENYA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31536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8C8C8C"/>
                </a:solidFill>
                <a:latin typeface="JetBrains Mono"/>
              </a:rPr>
              <a:t>Off-grid solar PV + BESS · diesel displaced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724144"/>
            <a:ext cx="6035040" cy="9525"/>
          </a:xfrm>
          <a:prstGeom prst="rect">
            <a:avLst/>
          </a:prstGeom>
          <a:solidFill>
            <a:srgbClr val="5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ta-aerial-top.jpg"/>
          <p:cNvPicPr>
            <a:picLocks noChangeAspect="1"/>
          </p:cNvPicPr>
          <p:nvPr/>
        </p:nvPicPr>
        <p:blipFill>
          <a:blip r:embed="rId2"/>
          <a:srcRect t="8000" b="8000"/>
          <a:stretch>
            <a:fillRect/>
          </a:stretch>
        </p:blipFill>
        <p:spPr>
          <a:xfrm>
            <a:off x="7452360" y="2103120"/>
            <a:ext cx="3913632" cy="293522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452360" y="2103120"/>
            <a:ext cx="3913632" cy="27940"/>
          </a:xfrm>
          <a:prstGeom prst="rect">
            <a:avLst/>
          </a:prstGeom>
          <a:solidFill>
            <a:srgbClr val="D9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614476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50">
                <a:solidFill>
                  <a:srgbClr val="8C8C8C"/>
                </a:solidFill>
                <a:latin typeface="JetBrains Mono"/>
              </a:rPr>
              <a:t>TATA CHEMICALS MAGADI — 5.1 MWP · COMMISSIONED [2025]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00">
                <a:solidFill>
                  <a:srgbClr val="8C8C8C"/>
                </a:solidFill>
                <a:latin typeface="JetBrains Mono"/>
              </a:rPr>
              <a:t>GJW ENERGY — TECHNO-COMMERCIAL PROPOSAL · GJW-TCO-[YYYY]-[NNN]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19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D97725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50">
                <a:solidFill>
                  <a:srgbClr val="D97725"/>
                </a:solidFill>
                <a:latin typeface="JetBrains Mono"/>
              </a:rPr>
              <a:t>07 — COMMERCIAL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10">
                <a:solidFill>
                  <a:srgbClr val="0A0A0C"/>
                </a:solidFill>
                <a:latin typeface="Cabinet Grotesk"/>
              </a:rPr>
              <a:t>THE LOWEST CAPEX ISN'T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spc="-10">
                <a:solidFill>
                  <a:srgbClr val="0A0A0C"/>
                </a:solidFill>
                <a:latin typeface="Cabinet Grotesk"/>
              </a:rPr>
              <a:t>ALWAYS THE LOWEST COST.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40280"/>
          <a:ext cx="1054303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434072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 spc="250">
                          <a:solidFill>
                            <a:srgbClr val="D97725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L="109728" marR="109728" marT="45720" marB="45720">
                    <a:solidFill>
                      <a:srgbClr val="0A0A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spc="250">
                          <a:solidFill>
                            <a:srgbClr val="D97725"/>
                          </a:solidFill>
                          <a:latin typeface="JetBrains Mono"/>
                        </a:rPr>
                        <a:t>SCOPE LINE</a:t>
                      </a:r>
                    </a:p>
                  </a:txBody>
                  <a:tcPr anchor="ctr" marL="109728" marR="109728" marT="45720" marB="45720">
                    <a:solidFill>
                      <a:srgbClr val="0A0A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spc="250">
                          <a:solidFill>
                            <a:srgbClr val="D97725"/>
                          </a:solidFill>
                          <a:latin typeface="JetBrains Mono"/>
                        </a:rPr>
                        <a:t>AMOUNT</a:t>
                      </a:r>
                    </a:p>
                  </a:txBody>
                  <a:tcPr anchor="ctr" marL="109728" marR="109728" marT="45720" marB="45720">
                    <a:solidFill>
                      <a:srgbClr val="0A0A0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A0A0C"/>
                          </a:solidFill>
                          <a:latin typeface="Satoshi"/>
                        </a:rPr>
                        <a:t>Engineering, design &amp; approvals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[USD —]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2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A0A0C"/>
                          </a:solidFill>
                          <a:latin typeface="Satoshi"/>
                        </a:rPr>
                        <a:t>Equipment supply — PV, inverters[, BESS], BOS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[USD —]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3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A0A0C"/>
                          </a:solidFill>
                          <a:latin typeface="Satoshi"/>
                        </a:rPr>
                        <a:t>Civil, structural &amp; electrical installation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[USD —]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A0A0C"/>
                          </a:solidFill>
                          <a:latin typeface="Satoshi"/>
                        </a:rPr>
                        <a:t>Grid interconnection &amp; protection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[USD —]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5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A0A0C"/>
                          </a:solidFill>
                          <a:latin typeface="Satoshi"/>
                        </a:rPr>
                        <a:t>Testing, commissioning &amp; handover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[USD —]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6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A0A0C"/>
                          </a:solidFill>
                          <a:latin typeface="Satoshi"/>
                        </a:rPr>
                        <a:t>[Optional: year-one O&amp;M &amp; performance monitoring]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spc="100">
                          <a:solidFill>
                            <a:srgbClr val="737371"/>
                          </a:solidFill>
                          <a:latin typeface="JetBrains Mono"/>
                        </a:rPr>
                        <a:t>[USD —]</a:t>
                      </a:r>
                    </a:p>
                  </a:txBody>
                  <a:tcPr anchor="ctr" marL="109728" marR="109728" marT="45720" marB="45720">
                    <a:solidFill>
                      <a:srgbClr val="F7F7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7725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L="109728" marR="109728" marT="45720" marB="45720">
                    <a:solidFill>
                      <a:srgbClr val="2B3A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150">
                          <a:solidFill>
                            <a:srgbClr val="FFFFFF"/>
                          </a:solidFill>
                          <a:latin typeface="JetBrains Mono"/>
                        </a:rPr>
                        <a:t>SUBTOTAL — SUPPLY &amp; INSTALL (EXCL. VAT)</a:t>
                      </a:r>
                    </a:p>
                  </a:txBody>
                  <a:tcPr anchor="ctr" marL="109728" marR="109728" marT="45720" marB="45720">
                    <a:solidFill>
                      <a:srgbClr val="2B3A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100">
                          <a:solidFill>
                            <a:srgbClr val="FFFFFF"/>
                          </a:solidFill>
                          <a:latin typeface="JetBrains Mono"/>
                        </a:rPr>
                        <a:t>[USD —]</a:t>
                      </a:r>
                    </a:p>
                  </a:txBody>
                  <a:tcPr anchor="ctr" marL="109728" marR="109728" marT="45720" marB="45720">
                    <a:solidFill>
                      <a:srgbClr val="2B3A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7725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L="109728" marR="109728" marT="45720" marB="45720">
                    <a:solidFill>
                      <a:srgbClr val="0A0A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150">
                          <a:solidFill>
                            <a:srgbClr val="FFFFFF"/>
                          </a:solidFill>
                          <a:latin typeface="JetBrains Mono"/>
                        </a:rPr>
                        <a:t>TOTAL CONTRACT PRICE (INCL. TAXES AS STATED)</a:t>
                      </a:r>
                    </a:p>
                  </a:txBody>
                  <a:tcPr anchor="ctr" marL="109728" marR="109728" marT="45720" marB="45720">
                    <a:solidFill>
                      <a:srgbClr val="0A0A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100">
                          <a:solidFill>
                            <a:srgbClr val="D97725"/>
                          </a:solidFill>
                          <a:latin typeface="JetBrains Mono"/>
                        </a:rPr>
                        <a:t>[USD —]</a:t>
                      </a:r>
                    </a:p>
                  </a:txBody>
                  <a:tcPr anchor="ctr" marL="109728" marR="109728" marT="45720" marB="45720">
                    <a:solidFill>
                      <a:srgbClr val="0A0A0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06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37371"/>
                </a:solidFill>
                <a:latin typeface="Satoshi"/>
              </a:rPr>
              <a:t>Fixed, lump-sum turnkey price. No variation unless physical scope changes. Currency: [USD/KES] · price basis: [DDP site / ex-works + install].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00">
                <a:solidFill>
                  <a:srgbClr val="A6A6A3"/>
                </a:solidFill>
                <a:latin typeface="JetBrains Mono"/>
              </a:rPr>
              <a:t>GJW ENERGY — TECHNO-COMMERCIAL PROPOSAL · GJW-TCO-[YYYY]-[NNN]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19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D97725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50">
                <a:solidFill>
                  <a:srgbClr val="D97725"/>
                </a:solidFill>
                <a:latin typeface="JetBrains Mono"/>
              </a:rPr>
              <a:t>08 — COMMERCIAL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0">
                <a:solidFill>
                  <a:srgbClr val="0A0A0C"/>
                </a:solidFill>
                <a:latin typeface="Cabinet Grotesk"/>
              </a:rPr>
              <a:t>CLEAR TERMS. NO SURPRISES.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377440" cy="1905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10">
                <a:solidFill>
                  <a:srgbClr val="D97725"/>
                </a:solidFill>
                <a:latin typeface="Cabinet Grotesk"/>
              </a:rP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50">
                <a:solidFill>
                  <a:srgbClr val="737371"/>
                </a:solidFill>
                <a:latin typeface="JetBrains Mono"/>
              </a:rPr>
              <a:t>CONTRACT SIGNATURE &amp; MOBILISATION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7872" y="2148840"/>
            <a:ext cx="2377440" cy="1905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10">
                <a:solidFill>
                  <a:srgbClr val="D97725"/>
                </a:solidFill>
                <a:latin typeface="Cabinet Grotesk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50">
                <a:solidFill>
                  <a:srgbClr val="737371"/>
                </a:solidFill>
                <a:latin typeface="JetBrains Mono"/>
              </a:rPr>
              <a:t>MAJOR EQUIPMENT DELIVERED TO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2148840"/>
            <a:ext cx="2377440" cy="1905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10">
                <a:solidFill>
                  <a:srgbClr val="D97725"/>
                </a:solidFill>
                <a:latin typeface="Cabinet Grotesk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50">
                <a:solidFill>
                  <a:srgbClr val="737371"/>
                </a:solidFill>
                <a:latin typeface="JetBrains Mono"/>
              </a:rPr>
              <a:t>MECHANICAL COMPLETION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7696" y="2148840"/>
            <a:ext cx="2377440" cy="1905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10">
                <a:solidFill>
                  <a:srgbClr val="D97725"/>
                </a:solidFill>
                <a:latin typeface="Cabinet Grotesk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50">
                <a:solidFill>
                  <a:srgbClr val="737371"/>
                </a:solidFill>
                <a:latin typeface="JetBrains Mono"/>
              </a:rPr>
              <a:t>COMMISSIONING &amp; ACCEPTANCE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VALIDITY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721607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A0A0C"/>
                </a:solidFill>
                <a:latin typeface="Satoshi"/>
              </a:rPr>
              <a:t>This offer remains open for [30] days from the date of issue.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96511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2452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WARRANTIES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197095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A0A0C"/>
                </a:solidFill>
                <a:latin typeface="Satoshi"/>
              </a:rPr>
              <a:t>Modules [12/25] yrs product &amp; performance · inverters [5–10] yrs · workmanship [2] yrs.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571999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00015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672583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A0A0C"/>
                </a:solidFill>
                <a:latin typeface="Satoshi"/>
              </a:rPr>
              <a:t>Year-one yield per PVsyst P50 estimate · measured at the generation meter.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47487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75503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EXCLUSIONS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148071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A0A0C"/>
                </a:solidFill>
                <a:latin typeface="Satoshi"/>
              </a:rPr>
              <a:t>Utility connection fees · grid reinforcement · unforeseen civils · VAT unless stated.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522975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50991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20">
                <a:solidFill>
                  <a:srgbClr val="D97725"/>
                </a:solidFill>
                <a:latin typeface="JetBrains Mono"/>
              </a:rPr>
              <a:t>GOVERNING 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623559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A0A0C"/>
                </a:solidFill>
                <a:latin typeface="Satoshi"/>
              </a:rPr>
              <a:t>[FIDIC-based / client contract] · Kenyan law · amicable resolution then arbitration.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998463"/>
            <a:ext cx="10543032" cy="9525"/>
          </a:xfrm>
          <a:prstGeom prst="rect">
            <a:avLst/>
          </a:prstGeom>
          <a:solidFill>
            <a:srgbClr val="E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00">
                <a:solidFill>
                  <a:srgbClr val="A6A6A3"/>
                </a:solidFill>
                <a:latin typeface="JetBrains Mono"/>
              </a:rPr>
              <a:t>GJW ENERGY — TECHNO-COMMERCIAL PROPOSAL · GJW-TCO-[YYYY]-[NNN]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19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D97725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502920" cy="27940"/>
          </a:xfrm>
          <a:prstGeom prst="rect">
            <a:avLst/>
          </a:prstGeom>
          <a:solidFill>
            <a:srgbClr val="D9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spc="60">
                <a:solidFill>
                  <a:srgbClr val="FFFFFF"/>
                </a:solidFill>
                <a:latin typeface="Cabinet Grotesk"/>
              </a:rPr>
              <a:t>GJW </a:t>
            </a:r>
            <a:r>
              <a:rPr sz="1600" b="0" spc="60">
                <a:solidFill>
                  <a:srgbClr val="8C8C8C"/>
                </a:solidFill>
                <a:latin typeface="Cabinet Grotesk"/>
              </a:rPr>
              <a:t>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50">
                <a:solidFill>
                  <a:srgbClr val="D97725"/>
                </a:solidFill>
                <a:latin typeface="JetBrains Mono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spc="-10">
                <a:solidFill>
                  <a:srgbClr val="FFFFFF"/>
                </a:solidFill>
                <a:latin typeface="Cabinet Grotesk"/>
              </a:rPr>
              <a:t>Your sector. Your site.</a:t>
            </a:r>
          </a:p>
          <a:p>
            <a:pPr algn="l">
              <a:lnSpc>
                <a:spcPct val="102000"/>
              </a:lnSpc>
            </a:pPr>
            <a:r>
              <a:rPr sz="4400" b="1" spc="-10">
                <a:solidFill>
                  <a:srgbClr val="D97725"/>
                </a:solidFill>
                <a:latin typeface="Cabinet Grotesk"/>
              </a:rPr>
              <a:t>Built properly,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D97725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66344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Satoshi"/>
              </a:rPr>
              <a:t>Site visit &amp; data confirmation — [week of ___]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D97725"/>
                </a:solidFill>
                <a:latin typeface="JetBrain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50749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Satoshi"/>
              </a:rPr>
              <a:t>Final BOQ &amp; contract signature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D97725"/>
                </a:solidFill>
                <a:latin typeface="JetBrains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48640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Satoshi"/>
              </a:rPr>
              <a:t>Mobilisation within [2] weeks of signature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663440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1" spc="150">
                <a:solidFill>
                  <a:srgbClr val="FFFFFF"/>
                </a:solidFill>
                <a:latin typeface="JetBrains Mono"/>
              </a:rPr>
              <a:t>INFO@GJWENERGY.CO.KE</a:t>
            </a:r>
          </a:p>
          <a:p>
            <a:pPr algn="l">
              <a:lnSpc>
                <a:spcPct val="160000"/>
              </a:lnSpc>
            </a:pPr>
            <a:r>
              <a:rPr sz="1050" b="0" spc="150">
                <a:solidFill>
                  <a:srgbClr val="FFFFFF"/>
                </a:solidFill>
                <a:latin typeface="JetBrains Mono"/>
              </a:rPr>
              <a:t>+254 722 660 630</a:t>
            </a:r>
          </a:p>
          <a:p>
            <a:pPr algn="l">
              <a:lnSpc>
                <a:spcPct val="160000"/>
              </a:lnSpc>
            </a:pPr>
            <a:r>
              <a:rPr sz="1050" b="0" spc="150">
                <a:solidFill>
                  <a:srgbClr val="8C8C8C"/>
                </a:solidFill>
                <a:latin typeface="JetBrains Mono"/>
              </a:rPr>
              <a:t>NAIROBI, KENYA</a:t>
            </a:r>
          </a:p>
          <a:p>
            <a:pPr algn="l">
              <a:lnSpc>
                <a:spcPct val="160000"/>
              </a:lnSpc>
            </a:pPr>
            <a:r>
              <a:rPr sz="1050" b="1" spc="150">
                <a:solidFill>
                  <a:srgbClr val="D97725"/>
                </a:solidFill>
                <a:latin typeface="JetBrains Mono"/>
              </a:rPr>
              <a:t>GJWENERGY.CO.KE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00">
                <a:solidFill>
                  <a:srgbClr val="8C8C8C"/>
                </a:solidFill>
                <a:latin typeface="JetBrains Mono"/>
              </a:rPr>
              <a:t>GJW ENERGY — TECHNO-COMMERCIAL PROPOSAL · GJW-TCO-[YYYY]-[NNN]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D97725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