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shaded.jpg"/>
          <p:cNvPicPr>
            <a:picLocks noChangeAspect="1"/>
          </p:cNvPicPr>
          <p:nvPr/>
        </p:nvPicPr>
        <p:blipFill>
          <a:blip r:embed="rId2"/>
          <a:srcRect t="7781" b="778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822960"/>
            <a:ext cx="502920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spc="60">
                <a:solidFill>
                  <a:srgbClr val="FFFFFF"/>
                </a:solidFill>
                <a:latin typeface="Cabinet Grotesk"/>
              </a:rPr>
              <a:t>GJW </a:t>
            </a:r>
            <a:r>
              <a:rPr sz="1600" b="0" spc="60">
                <a:solidFill>
                  <a:srgbClr val="8C8C8C"/>
                </a:solidFill>
                <a:latin typeface="Cabinet Grotesk"/>
              </a:rPr>
              <a:t>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350">
                <a:solidFill>
                  <a:srgbClr val="D97725"/>
                </a:solidFill>
                <a:latin typeface="JetBrains Mono"/>
              </a:rPr>
              <a:t>TECHNO-COMMERCIAL PROPOSAL · GJW-TCO-[YYYY]-[NNN]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spc="-10">
                <a:solidFill>
                  <a:srgbClr val="FFFFFF"/>
                </a:solidFill>
                <a:latin typeface="Cabinet Grotesk"/>
              </a:rPr>
              <a:t>[SOLAR PV + BESS PLANT]</a:t>
            </a:r>
          </a:p>
          <a:p>
            <a:pPr algn="l">
              <a:lnSpc>
                <a:spcPct val="105000"/>
              </a:lnSpc>
            </a:pPr>
            <a:r>
              <a:rPr sz="2000" b="0" spc="20">
                <a:solidFill>
                  <a:srgbClr val="C9C9C9"/>
                </a:solidFill>
                <a:latin typeface="Cabinet Grotesk"/>
              </a:rPr>
              <a:t>[CAPACITY] kWp / [kWh] — [SITE NAME], [COUNTRY]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394960"/>
            <a:ext cx="10543032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PREPARED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[CLIENT NAME]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PREPARED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GJW ENERGY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6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[DD MONTH YYYY]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3104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VALIDITY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3104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[30]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50">
                <a:solidFill>
                  <a:srgbClr val="8C8C8C"/>
                </a:solidFill>
                <a:latin typeface="JetBrains Mono"/>
              </a:rPr>
              <a:t>PRIVATE &amp;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01 — 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PRINCIPAL-LED. ENGINEER-FIRST.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37371"/>
                </a:solidFill>
                <a:latin typeface="Satoshi"/>
              </a:rPr>
              <a:t>GJW Energy is a Kenyan engineering and EPC company delivering solar PV, battery storage and grid-integration projects across East Africa. Technical governance on every project is anchored directly by the company's technical leadership — the people who design your system are the people accountable for delivering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37371"/>
                </a:solidFill>
                <a:latin typeface="Satoshi"/>
              </a:rPr>
              <a:t>Mandate across Kenya, Tanzania, Uganda, Somalia and Somaliland — EPC, construction, design and technical advisory for industrial, agricultural, hospitality, healthcare and mixed-use clients.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83664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MWp engineering &amp;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delivery experience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2724912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907792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10+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962656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MWh storage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experience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3803904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3986784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4041648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territories — regional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delivery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882896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5065776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20+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512064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years combined team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experience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074920"/>
            <a:ext cx="603504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5780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WHAT THIS MEANS FOR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53212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One accountable engineering lead from first site visit to final acceptance testing. No hand-offs, no brokering — design intent survives construction.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02 — GEOGRAPHICAL PRESENCE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10">
                <a:solidFill>
                  <a:srgbClr val="FFFFFF"/>
                </a:solidFill>
                <a:latin typeface="Cabinet Grotesk"/>
              </a:rPr>
              <a:t>ONE TEAM. FIVE TERRITORIES.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852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8C8C8C"/>
                </a:solidFill>
                <a:latin typeface="Satoshi"/>
              </a:rPr>
              <a:t>Headquartered in Kenya, with project delivery and development experience across the region — one engineering standard, applied everywhere we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13639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KENYA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19125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HOME MARKET · EPRA-LICENSED DELIVERY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11880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76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75818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UGANDA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8130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C&amp;I SOLAR &amp; STORAGE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33672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7997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TANZANIA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C&amp;I SOLAR &amp; STORAGE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855464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02005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00176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SOMALIA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505663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OFF-GRID &amp; DIESEL DISPLACEMENT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477256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6418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62356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SOMALILAND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567842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WATER &amp; UTILITY SOLAR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099048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resence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914400"/>
            <a:ext cx="4396859" cy="53949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03 — YOUR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THE BRIEF, AS WE UNDERSTAND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984248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[CLIENT NAME]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14016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786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51176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[SITE / FACILITY], [TOWN], [COUNTRY]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980944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455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118104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[Reduce grid energy costs / secure supply / displace diesel]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54787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LOAD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685032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[Daytime baseload ±XXX kW · peak XXX kVA · XX,XXX kWh/month]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1480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7939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SUPPLY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25196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[Utility grid — utility tariff / outage profile / genset backup]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68172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463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CONSTRAINTS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818888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[Roof or land availability · outage windows · interconnection limits]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48656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715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Source: [site visit dated ___ / client data pack / utility bills for ___ months]. Any assumption stated here is confirmed during detailed design and does not alter the fixed price unless the physical scope changes.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04 — TECHNICAL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PROPOSED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00">
                <a:solidFill>
                  <a:srgbClr val="D97725"/>
                </a:solidFill>
                <a:latin typeface="JetBrains Mono"/>
              </a:rPr>
              <a:t>SYSTEM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938528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[XXX] kWp DC / [XXX] kW AC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1343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4144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00">
                <a:solidFill>
                  <a:srgbClr val="D97725"/>
                </a:solidFill>
                <a:latin typeface="JetBrains Mono"/>
              </a:rPr>
              <a:t>PV MODULES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414016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[N × XXX Wp Tier-1 mono / n-type · make per final BOQ]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1693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00">
                <a:solidFill>
                  <a:srgbClr val="D97725"/>
                </a:solidFill>
                <a:latin typeface="JetBrains Mono"/>
              </a:rPr>
              <a:t>INVERTERS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889504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[N × XXX kW string inverters · make per final BOQ]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26440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9242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00">
                <a:solidFill>
                  <a:srgbClr val="D97725"/>
                </a:solidFill>
                <a:latin typeface="JetBrains Mono"/>
              </a:rPr>
              <a:t>STORAGE (OPTION)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364992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[XXX kWh LFP BESS · hybrid inverter / PCS]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39896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6791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00">
                <a:solidFill>
                  <a:srgbClr val="D97725"/>
                </a:solidFill>
                <a:latin typeface="JetBrains Mono"/>
              </a:rPr>
              <a:t>GRID INTERFACE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840480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[Grid-tied / grid-stabilising · protection &amp; synchronisation per utility]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15384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00">
                <a:solidFill>
                  <a:srgbClr val="D97725"/>
                </a:solidFill>
                <a:latin typeface="JetBrains Mono"/>
              </a:rPr>
              <a:t>MOUNTING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315968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[Roof / ground-mounted · hot-dip galvanised structure]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69087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81888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00">
                <a:solidFill>
                  <a:srgbClr val="D97725"/>
                </a:solidFill>
                <a:latin typeface="JetBrains Mono"/>
              </a:rPr>
              <a:t>MONITORING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791456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[String-level monitoring · remote portal · generation meter]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16636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29437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00">
                <a:solidFill>
                  <a:srgbClr val="D97725"/>
                </a:solidFill>
                <a:latin typeface="JetBrains Mono"/>
              </a:rPr>
              <a:t>EST. YIELD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266944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[X,XXX MWh in year one · PR ≥ XX%]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64184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8978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Engineering basis: PVsyst simulation, utility interconnection study and structural verification precede construction. All equipment is Tier-1 with manufacturer warranties registered to the client.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05 — SCOPE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ONE CONTRACT. FULL ACCOUNTABILITY.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7568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ENGINEERING &amp;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207568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Site survey &amp; yield assessment · PVsyst design · single-line diagrams · structural checks · utility 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72491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4436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PROCUREMENT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94436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Tier-1 equipment sourcing · factory inspections · logistics &amp; customs · materials received &amp; stored to spec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59359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81304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CONSTRUCTION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81304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Civil &amp; structural works · mechanical &amp; electrical installation · grid interconnection · HSE-managed site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46227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68172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COMMISSIONING &amp; HANDOVER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68172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Testing &amp; commissioning · acceptance tests with client · as-built dossier · operator training · O&amp;M handover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33095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669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Exclusions: [utility connection fees · grid reinforcement · civils beyond agreed platform · VAT as stated].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06 — DELIVERY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BUILT AT UTILITY SCALE AND SPEED.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1054303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6949440"/>
                <a:gridCol w="258775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PHASE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TIMELINE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01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Contract &amp; mobilisation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1–2]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02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Detailed design &amp; utility approvals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2–5]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03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Procurement &amp; logistics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4–10]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04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Construction &amp; installation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8–16]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05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Testing, commissioning &amp; handover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16–18]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715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Programme assumes timely utility approvals and site access. A week-by-week schedule is issued at contract signature and tracked to completion.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07 — PROOF, NOT PROMISES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FFFFFF"/>
                </a:solidFill>
                <a:latin typeface="Cabinet Grotesk"/>
              </a:rPr>
              <a:t>DELIVERED BY THIS 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TATA CHEMICALS · MAGADI, KENYA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5.1 MWp on-grid solar · grid stabilisation · D&amp;T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88336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6207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DEVKI GROUP PORTFOLIO · KENYA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3.8 MWp rooftop across 4 manufacturing sites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447288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2102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TATU CITY SEZ · KENYA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1363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2.05 MW rooftop · 3,468 modules · mixed-use 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06240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997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SAJ CERAMICS · KENYA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725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693 kWp rooftop + genset control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65192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389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KINONDO KWETU · DIANI, KENYA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Off-grid solar PV + BESS · diesel displaced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724144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ata-aerial-top.jpg"/>
          <p:cNvPicPr>
            <a:picLocks noChangeAspect="1"/>
          </p:cNvPicPr>
          <p:nvPr/>
        </p:nvPicPr>
        <p:blipFill>
          <a:blip r:embed="rId2"/>
          <a:srcRect t="8000" b="8000"/>
          <a:stretch>
            <a:fillRect/>
          </a:stretch>
        </p:blipFill>
        <p:spPr>
          <a:xfrm>
            <a:off x="7452360" y="2103120"/>
            <a:ext cx="3913632" cy="293522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52360" y="2103120"/>
            <a:ext cx="3913632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614476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50">
                <a:solidFill>
                  <a:srgbClr val="8C8C8C"/>
                </a:solidFill>
                <a:latin typeface="JetBrains Mono"/>
              </a:rPr>
              <a:t>TATA CHEMICALS MAGADI — 5.1 MWP · COMMISSIONED [2025]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08 — COMMERCIAL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10">
                <a:solidFill>
                  <a:srgbClr val="0A0A0C"/>
                </a:solidFill>
                <a:latin typeface="Cabinet Grotesk"/>
              </a:rPr>
              <a:t>THE LOWEST CAPEX ISN'T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spc="-10">
                <a:solidFill>
                  <a:srgbClr val="0A0A0C"/>
                </a:solidFill>
                <a:latin typeface="Cabinet Grotesk"/>
              </a:rPr>
              <a:t>ALWAYS THE LOWEST COST.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40280"/>
          <a:ext cx="1054303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434072"/>
                <a:gridCol w="23774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SCOPE LINE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AMOUNT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1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Engineering, design &amp; approvals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2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Equipment supply — PV, inverters[, BESS], BOS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3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Civil, structural &amp; electrical installation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4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Grid interconnection &amp; protection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5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Testing, commissioning &amp; handover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6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[Optional: year-one O&amp;M &amp; performance monitoring]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50">
                          <a:solidFill>
                            <a:srgbClr val="FFFFFF"/>
                          </a:solidFill>
                          <a:latin typeface="JetBrains Mono"/>
                        </a:rPr>
                        <a:t>SUBTOTAL — SUPPLY &amp; INSTALL (EXCL. VAT)</a:t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00">
                          <a:solidFill>
                            <a:srgbClr val="FFFFFF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50">
                          <a:solidFill>
                            <a:srgbClr val="FFFFFF"/>
                          </a:solidFill>
                          <a:latin typeface="JetBrains Mono"/>
                        </a:rPr>
                        <a:t>TOTAL CONTRACT PRICE (INCL. TAXES AS STATED)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806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Fixed, lump-sum turnkey price. No variation unless physical scope changes. Currency: [USD/KES] · price basis: [DDP site / ex-works + install].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09 — COMMERCIAL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CLEAR TERMS. NO SURPRISES.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CONTRACT SIGNATURE &amp; MOBILISATION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7872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MAJOR EQUIPMENT DELIVERED TO SITE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2784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2784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4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MECHANICAL COMPLETION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97696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COMMISSIONING &amp; ACCEPTANCE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4903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VALIDITY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721607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This offer remains open for [30] days from the date of issue.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96511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24527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WARRANTIES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197095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Modules [12/25] yrs product &amp; performance · inverters [5–10] yrs · workmanship [2] yrs.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571999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00015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PERFORMANCE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672583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Year-one yield per PVsyst P50 estimate · measured at the generation meter.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047487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75503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EXCLUSIONS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148071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Utility connection fees · grid reinforcement · unforeseen civils · VAT unless stated.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522975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50991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GOVERNING TERMS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5623559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[FIDIC-based / client contract] · Kenyan law · amicable resolution then arbitration.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998463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e-shaded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822960"/>
            <a:ext cx="502920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spc="60">
                <a:solidFill>
                  <a:srgbClr val="FFFFFF"/>
                </a:solidFill>
                <a:latin typeface="Cabinet Grotesk"/>
              </a:rPr>
              <a:t>GJW </a:t>
            </a:r>
            <a:r>
              <a:rPr sz="1600" b="0" spc="60">
                <a:solidFill>
                  <a:srgbClr val="8C8C8C"/>
                </a:solidFill>
                <a:latin typeface="Cabinet Grotesk"/>
              </a:rPr>
              <a:t>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spc="-10">
                <a:solidFill>
                  <a:srgbClr val="FFFFFF"/>
                </a:solidFill>
                <a:latin typeface="Cabinet Grotesk"/>
              </a:rPr>
              <a:t>Your sector. Your site.</a:t>
            </a:r>
          </a:p>
          <a:p>
            <a:pPr algn="l">
              <a:lnSpc>
                <a:spcPct val="102000"/>
              </a:lnSpc>
            </a:pPr>
            <a:r>
              <a:rPr sz="4400" b="1" spc="-10">
                <a:solidFill>
                  <a:srgbClr val="D97725"/>
                </a:solidFill>
                <a:latin typeface="Cabinet Grotesk"/>
              </a:rPr>
              <a:t>Built properly, once.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466344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Site visit &amp; data confirmation — [week of ___]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507492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Final BOQ &amp; contract signature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86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548640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Mobilisation within [2] weeks of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663440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1" spc="150">
                <a:solidFill>
                  <a:srgbClr val="FFFFFF"/>
                </a:solidFill>
                <a:latin typeface="JetBrains Mono"/>
              </a:rPr>
              <a:t>INFO@GJWENERGY.CO.KE</a:t>
            </a:r>
          </a:p>
          <a:p>
            <a:pPr algn="l">
              <a:lnSpc>
                <a:spcPct val="160000"/>
              </a:lnSpc>
            </a:pPr>
            <a:r>
              <a:rPr sz="1050" b="0" spc="150">
                <a:solidFill>
                  <a:srgbClr val="FFFFFF"/>
                </a:solidFill>
                <a:latin typeface="JetBrains Mono"/>
              </a:rPr>
              <a:t>+254 722 660 630</a:t>
            </a:r>
          </a:p>
          <a:p>
            <a:pPr algn="l">
              <a:lnSpc>
                <a:spcPct val="160000"/>
              </a:lnSpc>
            </a:pPr>
            <a:r>
              <a:rPr sz="1050" b="0" spc="150">
                <a:solidFill>
                  <a:srgbClr val="8C8C8C"/>
                </a:solidFill>
                <a:latin typeface="JetBrains Mono"/>
              </a:rPr>
              <a:t>NAIROBI, KENYA</a:t>
            </a:r>
          </a:p>
          <a:p>
            <a:pPr algn="l">
              <a:lnSpc>
                <a:spcPct val="160000"/>
              </a:lnSpc>
            </a:pPr>
            <a:r>
              <a:rPr sz="1050" b="1" spc="150">
                <a:solidFill>
                  <a:srgbClr val="D97725"/>
                </a:solidFill>
                <a:latin typeface="JetBrains Mono"/>
              </a:rPr>
              <a:t>GJWENERGY.CO.KE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